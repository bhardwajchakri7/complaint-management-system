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71" r:id="rId4"/>
    <p:sldId id="259" r:id="rId5"/>
    <p:sldId id="260" r:id="rId6"/>
    <p:sldId id="261" r:id="rId7"/>
    <p:sldId id="270" r:id="rId8"/>
    <p:sldId id="262" r:id="rId9"/>
    <p:sldId id="263" r:id="rId10"/>
    <p:sldId id="264" r:id="rId11"/>
    <p:sldId id="265" r:id="rId12"/>
    <p:sldId id="267" r:id="rId13"/>
    <p:sldId id="272" r:id="rId14"/>
    <p:sldId id="268"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69"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A8DEA-5926-6F5A-E4BF-DA0245B46D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515B1EE-F4DA-E6B0-56A2-DDD7EE80F9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F58A1F2-B452-873C-5447-24CD18FCF7FF}"/>
              </a:ext>
            </a:extLst>
          </p:cNvPr>
          <p:cNvSpPr>
            <a:spLocks noGrp="1"/>
          </p:cNvSpPr>
          <p:nvPr>
            <p:ph type="dt" sz="half" idx="10"/>
          </p:nvPr>
        </p:nvSpPr>
        <p:spPr/>
        <p:txBody>
          <a:bodyPr/>
          <a:lstStyle/>
          <a:p>
            <a:fld id="{305D42B0-2003-4A28-91CC-399D9621FFA8}" type="datetimeFigureOut">
              <a:rPr lang="en-IN" smtClean="0"/>
              <a:t>23-10-2025</a:t>
            </a:fld>
            <a:endParaRPr lang="en-IN" dirty="0"/>
          </a:p>
        </p:txBody>
      </p:sp>
      <p:sp>
        <p:nvSpPr>
          <p:cNvPr id="5" name="Footer Placeholder 4">
            <a:extLst>
              <a:ext uri="{FF2B5EF4-FFF2-40B4-BE49-F238E27FC236}">
                <a16:creationId xmlns:a16="http://schemas.microsoft.com/office/drawing/2014/main" id="{A25C8909-6946-D159-5AAC-4009E4079158}"/>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865FC687-C88E-8E9E-0D72-21F694443ED6}"/>
              </a:ext>
            </a:extLst>
          </p:cNvPr>
          <p:cNvSpPr>
            <a:spLocks noGrp="1"/>
          </p:cNvSpPr>
          <p:nvPr>
            <p:ph type="sldNum" sz="quarter" idx="12"/>
          </p:nvPr>
        </p:nvSpPr>
        <p:spPr/>
        <p:txBody>
          <a:bodyPr/>
          <a:lstStyle/>
          <a:p>
            <a:fld id="{5730C706-F2BA-49C7-815B-68A8EF0AF516}" type="slidenum">
              <a:rPr lang="en-IN" smtClean="0"/>
              <a:t>‹#›</a:t>
            </a:fld>
            <a:endParaRPr lang="en-IN" dirty="0"/>
          </a:p>
        </p:txBody>
      </p:sp>
    </p:spTree>
    <p:extLst>
      <p:ext uri="{BB962C8B-B14F-4D97-AF65-F5344CB8AC3E}">
        <p14:creationId xmlns:p14="http://schemas.microsoft.com/office/powerpoint/2010/main" val="2898454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D560B-F9AA-E30B-E4F5-186F448EC32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8DD9CA5-4BAC-50D6-EFA0-8E484FECF6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639DE6E-7F68-F84D-69AC-F572D0D59407}"/>
              </a:ext>
            </a:extLst>
          </p:cNvPr>
          <p:cNvSpPr>
            <a:spLocks noGrp="1"/>
          </p:cNvSpPr>
          <p:nvPr>
            <p:ph type="dt" sz="half" idx="10"/>
          </p:nvPr>
        </p:nvSpPr>
        <p:spPr/>
        <p:txBody>
          <a:bodyPr/>
          <a:lstStyle/>
          <a:p>
            <a:fld id="{305D42B0-2003-4A28-91CC-399D9621FFA8}" type="datetimeFigureOut">
              <a:rPr lang="en-IN" smtClean="0"/>
              <a:t>23-10-2025</a:t>
            </a:fld>
            <a:endParaRPr lang="en-IN" dirty="0"/>
          </a:p>
        </p:txBody>
      </p:sp>
      <p:sp>
        <p:nvSpPr>
          <p:cNvPr id="5" name="Footer Placeholder 4">
            <a:extLst>
              <a:ext uri="{FF2B5EF4-FFF2-40B4-BE49-F238E27FC236}">
                <a16:creationId xmlns:a16="http://schemas.microsoft.com/office/drawing/2014/main" id="{0A274D32-4C8B-BD64-1E22-046CA7100264}"/>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248A334F-3974-5CAE-F8DC-CD62A2E801A6}"/>
              </a:ext>
            </a:extLst>
          </p:cNvPr>
          <p:cNvSpPr>
            <a:spLocks noGrp="1"/>
          </p:cNvSpPr>
          <p:nvPr>
            <p:ph type="sldNum" sz="quarter" idx="12"/>
          </p:nvPr>
        </p:nvSpPr>
        <p:spPr/>
        <p:txBody>
          <a:bodyPr/>
          <a:lstStyle/>
          <a:p>
            <a:fld id="{5730C706-F2BA-49C7-815B-68A8EF0AF516}" type="slidenum">
              <a:rPr lang="en-IN" smtClean="0"/>
              <a:t>‹#›</a:t>
            </a:fld>
            <a:endParaRPr lang="en-IN" dirty="0"/>
          </a:p>
        </p:txBody>
      </p:sp>
    </p:spTree>
    <p:extLst>
      <p:ext uri="{BB962C8B-B14F-4D97-AF65-F5344CB8AC3E}">
        <p14:creationId xmlns:p14="http://schemas.microsoft.com/office/powerpoint/2010/main" val="42288839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1A0D44-F04C-521D-E6F6-838EE6AEDF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1E0B9FA-86DC-257A-8463-3A8036CB5B4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610BEAC-2397-5AD5-0AE5-7B5D9A0857A8}"/>
              </a:ext>
            </a:extLst>
          </p:cNvPr>
          <p:cNvSpPr>
            <a:spLocks noGrp="1"/>
          </p:cNvSpPr>
          <p:nvPr>
            <p:ph type="dt" sz="half" idx="10"/>
          </p:nvPr>
        </p:nvSpPr>
        <p:spPr/>
        <p:txBody>
          <a:bodyPr/>
          <a:lstStyle/>
          <a:p>
            <a:fld id="{305D42B0-2003-4A28-91CC-399D9621FFA8}" type="datetimeFigureOut">
              <a:rPr lang="en-IN" smtClean="0"/>
              <a:t>23-10-2025</a:t>
            </a:fld>
            <a:endParaRPr lang="en-IN" dirty="0"/>
          </a:p>
        </p:txBody>
      </p:sp>
      <p:sp>
        <p:nvSpPr>
          <p:cNvPr id="5" name="Footer Placeholder 4">
            <a:extLst>
              <a:ext uri="{FF2B5EF4-FFF2-40B4-BE49-F238E27FC236}">
                <a16:creationId xmlns:a16="http://schemas.microsoft.com/office/drawing/2014/main" id="{D22CCE7B-B0DA-D87E-ABD3-C05883BFFBE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140D5E73-2CDF-4363-AD77-CDF99D6B28D2}"/>
              </a:ext>
            </a:extLst>
          </p:cNvPr>
          <p:cNvSpPr>
            <a:spLocks noGrp="1"/>
          </p:cNvSpPr>
          <p:nvPr>
            <p:ph type="sldNum" sz="quarter" idx="12"/>
          </p:nvPr>
        </p:nvSpPr>
        <p:spPr/>
        <p:txBody>
          <a:bodyPr/>
          <a:lstStyle/>
          <a:p>
            <a:fld id="{5730C706-F2BA-49C7-815B-68A8EF0AF516}" type="slidenum">
              <a:rPr lang="en-IN" smtClean="0"/>
              <a:t>‹#›</a:t>
            </a:fld>
            <a:endParaRPr lang="en-IN" dirty="0"/>
          </a:p>
        </p:txBody>
      </p:sp>
    </p:spTree>
    <p:extLst>
      <p:ext uri="{BB962C8B-B14F-4D97-AF65-F5344CB8AC3E}">
        <p14:creationId xmlns:p14="http://schemas.microsoft.com/office/powerpoint/2010/main" val="6776739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4B4BB-578F-B741-579A-387087923E0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CDCA51B-BCBF-3357-7957-ECE5F82368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8BDEFFD-FC8E-484A-ECF4-A60804F49F5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375E390-B75D-857B-F100-EBB2D61969F0}"/>
              </a:ext>
            </a:extLst>
          </p:cNvPr>
          <p:cNvSpPr>
            <a:spLocks noGrp="1"/>
          </p:cNvSpPr>
          <p:nvPr>
            <p:ph type="dt" sz="half" idx="10"/>
          </p:nvPr>
        </p:nvSpPr>
        <p:spPr/>
        <p:txBody>
          <a:bodyPr/>
          <a:lstStyle/>
          <a:p>
            <a:fld id="{305D42B0-2003-4A28-91CC-399D9621FFA8}" type="datetimeFigureOut">
              <a:rPr lang="en-IN" smtClean="0"/>
              <a:t>23-10-2025</a:t>
            </a:fld>
            <a:endParaRPr lang="en-IN" dirty="0"/>
          </a:p>
        </p:txBody>
      </p:sp>
      <p:sp>
        <p:nvSpPr>
          <p:cNvPr id="6" name="Footer Placeholder 5">
            <a:extLst>
              <a:ext uri="{FF2B5EF4-FFF2-40B4-BE49-F238E27FC236}">
                <a16:creationId xmlns:a16="http://schemas.microsoft.com/office/drawing/2014/main" id="{AE325B02-0EE6-5A28-E9C8-E54126266EF0}"/>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E20BC9C4-C07B-6BDE-549C-A400A1ED51A2}"/>
              </a:ext>
            </a:extLst>
          </p:cNvPr>
          <p:cNvSpPr>
            <a:spLocks noGrp="1"/>
          </p:cNvSpPr>
          <p:nvPr>
            <p:ph type="sldNum" sz="quarter" idx="12"/>
          </p:nvPr>
        </p:nvSpPr>
        <p:spPr/>
        <p:txBody>
          <a:bodyPr/>
          <a:lstStyle/>
          <a:p>
            <a:fld id="{5730C706-F2BA-49C7-815B-68A8EF0AF516}" type="slidenum">
              <a:rPr lang="en-IN" smtClean="0"/>
              <a:t>‹#›</a:t>
            </a:fld>
            <a:endParaRPr lang="en-IN" dirty="0"/>
          </a:p>
        </p:txBody>
      </p:sp>
    </p:spTree>
    <p:extLst>
      <p:ext uri="{BB962C8B-B14F-4D97-AF65-F5344CB8AC3E}">
        <p14:creationId xmlns:p14="http://schemas.microsoft.com/office/powerpoint/2010/main" val="2756735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3535A-08EA-50E4-9373-B78D2D2088B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70D9F95-5D6A-A1E0-CE24-0961EC687A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753AF55-4E4A-D5D2-1B42-E2AEF771142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63E1E43-2E74-70EE-9B2D-2F30B7AD21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69BB1A8-547E-3E1B-B196-A278BA24EC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100E0E7-C0B0-0AF6-AE23-50E2B99398DF}"/>
              </a:ext>
            </a:extLst>
          </p:cNvPr>
          <p:cNvSpPr>
            <a:spLocks noGrp="1"/>
          </p:cNvSpPr>
          <p:nvPr>
            <p:ph type="dt" sz="half" idx="10"/>
          </p:nvPr>
        </p:nvSpPr>
        <p:spPr/>
        <p:txBody>
          <a:bodyPr/>
          <a:lstStyle/>
          <a:p>
            <a:fld id="{305D42B0-2003-4A28-91CC-399D9621FFA8}" type="datetimeFigureOut">
              <a:rPr lang="en-IN" smtClean="0"/>
              <a:t>23-10-2025</a:t>
            </a:fld>
            <a:endParaRPr lang="en-IN" dirty="0"/>
          </a:p>
        </p:txBody>
      </p:sp>
      <p:sp>
        <p:nvSpPr>
          <p:cNvPr id="8" name="Footer Placeholder 7">
            <a:extLst>
              <a:ext uri="{FF2B5EF4-FFF2-40B4-BE49-F238E27FC236}">
                <a16:creationId xmlns:a16="http://schemas.microsoft.com/office/drawing/2014/main" id="{E5640DFC-9913-D542-14F1-7E0F8351830A}"/>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55127AC4-B236-0E49-4D43-FA39503F0050}"/>
              </a:ext>
            </a:extLst>
          </p:cNvPr>
          <p:cNvSpPr>
            <a:spLocks noGrp="1"/>
          </p:cNvSpPr>
          <p:nvPr>
            <p:ph type="sldNum" sz="quarter" idx="12"/>
          </p:nvPr>
        </p:nvSpPr>
        <p:spPr/>
        <p:txBody>
          <a:bodyPr/>
          <a:lstStyle/>
          <a:p>
            <a:fld id="{5730C706-F2BA-49C7-815B-68A8EF0AF516}" type="slidenum">
              <a:rPr lang="en-IN" smtClean="0"/>
              <a:t>‹#›</a:t>
            </a:fld>
            <a:endParaRPr lang="en-IN" dirty="0"/>
          </a:p>
        </p:txBody>
      </p:sp>
    </p:spTree>
    <p:extLst>
      <p:ext uri="{BB962C8B-B14F-4D97-AF65-F5344CB8AC3E}">
        <p14:creationId xmlns:p14="http://schemas.microsoft.com/office/powerpoint/2010/main" val="22602532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5B7AF-2C73-4CED-E8DF-7E2C7C4B92B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8791892-EC1A-DCEB-6D43-75C9D09EDE6D}"/>
              </a:ext>
            </a:extLst>
          </p:cNvPr>
          <p:cNvSpPr>
            <a:spLocks noGrp="1"/>
          </p:cNvSpPr>
          <p:nvPr>
            <p:ph type="dt" sz="half" idx="10"/>
          </p:nvPr>
        </p:nvSpPr>
        <p:spPr/>
        <p:txBody>
          <a:bodyPr/>
          <a:lstStyle/>
          <a:p>
            <a:fld id="{305D42B0-2003-4A28-91CC-399D9621FFA8}" type="datetimeFigureOut">
              <a:rPr lang="en-IN" smtClean="0"/>
              <a:t>23-10-2025</a:t>
            </a:fld>
            <a:endParaRPr lang="en-IN" dirty="0"/>
          </a:p>
        </p:txBody>
      </p:sp>
      <p:sp>
        <p:nvSpPr>
          <p:cNvPr id="4" name="Footer Placeholder 3">
            <a:extLst>
              <a:ext uri="{FF2B5EF4-FFF2-40B4-BE49-F238E27FC236}">
                <a16:creationId xmlns:a16="http://schemas.microsoft.com/office/drawing/2014/main" id="{04F108E0-C01F-E533-98D9-0C69EBF01D10}"/>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DC637462-7C87-2DD1-5919-4D02BDE7F1DC}"/>
              </a:ext>
            </a:extLst>
          </p:cNvPr>
          <p:cNvSpPr>
            <a:spLocks noGrp="1"/>
          </p:cNvSpPr>
          <p:nvPr>
            <p:ph type="sldNum" sz="quarter" idx="12"/>
          </p:nvPr>
        </p:nvSpPr>
        <p:spPr/>
        <p:txBody>
          <a:bodyPr/>
          <a:lstStyle/>
          <a:p>
            <a:fld id="{5730C706-F2BA-49C7-815B-68A8EF0AF516}" type="slidenum">
              <a:rPr lang="en-IN" smtClean="0"/>
              <a:t>‹#›</a:t>
            </a:fld>
            <a:endParaRPr lang="en-IN" dirty="0"/>
          </a:p>
        </p:txBody>
      </p:sp>
    </p:spTree>
    <p:extLst>
      <p:ext uri="{BB962C8B-B14F-4D97-AF65-F5344CB8AC3E}">
        <p14:creationId xmlns:p14="http://schemas.microsoft.com/office/powerpoint/2010/main" val="3812404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0DF7BD0-E466-D997-B7C5-B9C6EEBADDF1}"/>
              </a:ext>
            </a:extLst>
          </p:cNvPr>
          <p:cNvSpPr>
            <a:spLocks noGrp="1"/>
          </p:cNvSpPr>
          <p:nvPr>
            <p:ph type="dt" sz="half" idx="10"/>
          </p:nvPr>
        </p:nvSpPr>
        <p:spPr/>
        <p:txBody>
          <a:bodyPr/>
          <a:lstStyle/>
          <a:p>
            <a:fld id="{305D42B0-2003-4A28-91CC-399D9621FFA8}" type="datetimeFigureOut">
              <a:rPr lang="en-IN" smtClean="0"/>
              <a:t>23-10-2025</a:t>
            </a:fld>
            <a:endParaRPr lang="en-IN" dirty="0"/>
          </a:p>
        </p:txBody>
      </p:sp>
      <p:sp>
        <p:nvSpPr>
          <p:cNvPr id="3" name="Footer Placeholder 2">
            <a:extLst>
              <a:ext uri="{FF2B5EF4-FFF2-40B4-BE49-F238E27FC236}">
                <a16:creationId xmlns:a16="http://schemas.microsoft.com/office/drawing/2014/main" id="{D89C216A-159F-271E-616E-72C21C66A582}"/>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30EB41D3-4763-8C50-2F4B-7EB4337C9BA7}"/>
              </a:ext>
            </a:extLst>
          </p:cNvPr>
          <p:cNvSpPr>
            <a:spLocks noGrp="1"/>
          </p:cNvSpPr>
          <p:nvPr>
            <p:ph type="sldNum" sz="quarter" idx="12"/>
          </p:nvPr>
        </p:nvSpPr>
        <p:spPr/>
        <p:txBody>
          <a:bodyPr/>
          <a:lstStyle/>
          <a:p>
            <a:fld id="{5730C706-F2BA-49C7-815B-68A8EF0AF516}" type="slidenum">
              <a:rPr lang="en-IN" smtClean="0"/>
              <a:t>‹#›</a:t>
            </a:fld>
            <a:endParaRPr lang="en-IN" dirty="0"/>
          </a:p>
        </p:txBody>
      </p:sp>
    </p:spTree>
    <p:extLst>
      <p:ext uri="{BB962C8B-B14F-4D97-AF65-F5344CB8AC3E}">
        <p14:creationId xmlns:p14="http://schemas.microsoft.com/office/powerpoint/2010/main" val="2276924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95F7F-3A59-A386-2788-81E1DD133E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CF8E37E-D4F7-2C64-68F5-392398E735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D1265E1-38AA-5D41-3822-8177FD33A5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E0C403-4EE6-88FF-DE37-A1DEBF4A25F5}"/>
              </a:ext>
            </a:extLst>
          </p:cNvPr>
          <p:cNvSpPr>
            <a:spLocks noGrp="1"/>
          </p:cNvSpPr>
          <p:nvPr>
            <p:ph type="dt" sz="half" idx="10"/>
          </p:nvPr>
        </p:nvSpPr>
        <p:spPr/>
        <p:txBody>
          <a:bodyPr/>
          <a:lstStyle/>
          <a:p>
            <a:fld id="{305D42B0-2003-4A28-91CC-399D9621FFA8}" type="datetimeFigureOut">
              <a:rPr lang="en-IN" smtClean="0"/>
              <a:t>23-10-2025</a:t>
            </a:fld>
            <a:endParaRPr lang="en-IN" dirty="0"/>
          </a:p>
        </p:txBody>
      </p:sp>
      <p:sp>
        <p:nvSpPr>
          <p:cNvPr id="6" name="Footer Placeholder 5">
            <a:extLst>
              <a:ext uri="{FF2B5EF4-FFF2-40B4-BE49-F238E27FC236}">
                <a16:creationId xmlns:a16="http://schemas.microsoft.com/office/drawing/2014/main" id="{CEBF6C8F-2CBB-7C33-3872-4B6D0A8821FE}"/>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D5677CDF-AC4D-67F4-3777-FD30E21F2494}"/>
              </a:ext>
            </a:extLst>
          </p:cNvPr>
          <p:cNvSpPr>
            <a:spLocks noGrp="1"/>
          </p:cNvSpPr>
          <p:nvPr>
            <p:ph type="sldNum" sz="quarter" idx="12"/>
          </p:nvPr>
        </p:nvSpPr>
        <p:spPr/>
        <p:txBody>
          <a:bodyPr/>
          <a:lstStyle/>
          <a:p>
            <a:fld id="{5730C706-F2BA-49C7-815B-68A8EF0AF516}" type="slidenum">
              <a:rPr lang="en-IN" smtClean="0"/>
              <a:t>‹#›</a:t>
            </a:fld>
            <a:endParaRPr lang="en-IN" dirty="0"/>
          </a:p>
        </p:txBody>
      </p:sp>
    </p:spTree>
    <p:extLst>
      <p:ext uri="{BB962C8B-B14F-4D97-AF65-F5344CB8AC3E}">
        <p14:creationId xmlns:p14="http://schemas.microsoft.com/office/powerpoint/2010/main" val="2180463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EC7B2-1DCD-FECA-6E79-10A60E8502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871224C-1D6F-C3A6-32E7-CDEBE7DCE3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17296ABB-E11E-2714-D79E-1594FC4919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D47421-2F9A-D557-B4A4-6D2E0F994A7C}"/>
              </a:ext>
            </a:extLst>
          </p:cNvPr>
          <p:cNvSpPr>
            <a:spLocks noGrp="1"/>
          </p:cNvSpPr>
          <p:nvPr>
            <p:ph type="dt" sz="half" idx="10"/>
          </p:nvPr>
        </p:nvSpPr>
        <p:spPr/>
        <p:txBody>
          <a:bodyPr/>
          <a:lstStyle/>
          <a:p>
            <a:fld id="{305D42B0-2003-4A28-91CC-399D9621FFA8}" type="datetimeFigureOut">
              <a:rPr lang="en-IN" smtClean="0"/>
              <a:t>23-10-2025</a:t>
            </a:fld>
            <a:endParaRPr lang="en-IN" dirty="0"/>
          </a:p>
        </p:txBody>
      </p:sp>
      <p:sp>
        <p:nvSpPr>
          <p:cNvPr id="6" name="Footer Placeholder 5">
            <a:extLst>
              <a:ext uri="{FF2B5EF4-FFF2-40B4-BE49-F238E27FC236}">
                <a16:creationId xmlns:a16="http://schemas.microsoft.com/office/drawing/2014/main" id="{F614B0AB-6EEF-B964-1700-545226540AD7}"/>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49CBAE9D-8640-7109-A444-D9BBE638A14F}"/>
              </a:ext>
            </a:extLst>
          </p:cNvPr>
          <p:cNvSpPr>
            <a:spLocks noGrp="1"/>
          </p:cNvSpPr>
          <p:nvPr>
            <p:ph type="sldNum" sz="quarter" idx="12"/>
          </p:nvPr>
        </p:nvSpPr>
        <p:spPr/>
        <p:txBody>
          <a:bodyPr/>
          <a:lstStyle/>
          <a:p>
            <a:fld id="{5730C706-F2BA-49C7-815B-68A8EF0AF516}" type="slidenum">
              <a:rPr lang="en-IN" smtClean="0"/>
              <a:t>‹#›</a:t>
            </a:fld>
            <a:endParaRPr lang="en-IN" dirty="0"/>
          </a:p>
        </p:txBody>
      </p:sp>
    </p:spTree>
    <p:extLst>
      <p:ext uri="{BB962C8B-B14F-4D97-AF65-F5344CB8AC3E}">
        <p14:creationId xmlns:p14="http://schemas.microsoft.com/office/powerpoint/2010/main" val="36907133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ABA59-ED9D-6B75-97AF-C3F75532052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39F0727-C3CD-24B2-945D-4726F0DE46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2DE238-053D-19B6-7731-5C9E0A61039B}"/>
              </a:ext>
            </a:extLst>
          </p:cNvPr>
          <p:cNvSpPr>
            <a:spLocks noGrp="1"/>
          </p:cNvSpPr>
          <p:nvPr>
            <p:ph type="dt" sz="half" idx="10"/>
          </p:nvPr>
        </p:nvSpPr>
        <p:spPr/>
        <p:txBody>
          <a:bodyPr/>
          <a:lstStyle/>
          <a:p>
            <a:fld id="{305D42B0-2003-4A28-91CC-399D9621FFA8}" type="datetimeFigureOut">
              <a:rPr lang="en-IN" smtClean="0"/>
              <a:t>23-10-2025</a:t>
            </a:fld>
            <a:endParaRPr lang="en-IN" dirty="0"/>
          </a:p>
        </p:txBody>
      </p:sp>
      <p:sp>
        <p:nvSpPr>
          <p:cNvPr id="5" name="Footer Placeholder 4">
            <a:extLst>
              <a:ext uri="{FF2B5EF4-FFF2-40B4-BE49-F238E27FC236}">
                <a16:creationId xmlns:a16="http://schemas.microsoft.com/office/drawing/2014/main" id="{F5A91C7A-8E97-F24A-013F-BA038105C1BA}"/>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8B7E204B-3D33-C191-63F7-5E0B0CDCDBC9}"/>
              </a:ext>
            </a:extLst>
          </p:cNvPr>
          <p:cNvSpPr>
            <a:spLocks noGrp="1"/>
          </p:cNvSpPr>
          <p:nvPr>
            <p:ph type="sldNum" sz="quarter" idx="12"/>
          </p:nvPr>
        </p:nvSpPr>
        <p:spPr/>
        <p:txBody>
          <a:bodyPr/>
          <a:lstStyle/>
          <a:p>
            <a:fld id="{5730C706-F2BA-49C7-815B-68A8EF0AF516}" type="slidenum">
              <a:rPr lang="en-IN" smtClean="0"/>
              <a:t>‹#›</a:t>
            </a:fld>
            <a:endParaRPr lang="en-IN" dirty="0"/>
          </a:p>
        </p:txBody>
      </p:sp>
    </p:spTree>
    <p:extLst>
      <p:ext uri="{BB962C8B-B14F-4D97-AF65-F5344CB8AC3E}">
        <p14:creationId xmlns:p14="http://schemas.microsoft.com/office/powerpoint/2010/main" val="1190554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BDB689-4D6B-6619-086F-A593ED6D23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A54D93B-5FDF-B26B-58A7-806C6B6D766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B76AF55-7E91-05F8-D063-19CB8A538084}"/>
              </a:ext>
            </a:extLst>
          </p:cNvPr>
          <p:cNvSpPr>
            <a:spLocks noGrp="1"/>
          </p:cNvSpPr>
          <p:nvPr>
            <p:ph type="dt" sz="half" idx="10"/>
          </p:nvPr>
        </p:nvSpPr>
        <p:spPr/>
        <p:txBody>
          <a:bodyPr/>
          <a:lstStyle/>
          <a:p>
            <a:fld id="{305D42B0-2003-4A28-91CC-399D9621FFA8}" type="datetimeFigureOut">
              <a:rPr lang="en-IN" smtClean="0"/>
              <a:t>23-10-2025</a:t>
            </a:fld>
            <a:endParaRPr lang="en-IN" dirty="0"/>
          </a:p>
        </p:txBody>
      </p:sp>
      <p:sp>
        <p:nvSpPr>
          <p:cNvPr id="5" name="Footer Placeholder 4">
            <a:extLst>
              <a:ext uri="{FF2B5EF4-FFF2-40B4-BE49-F238E27FC236}">
                <a16:creationId xmlns:a16="http://schemas.microsoft.com/office/drawing/2014/main" id="{0A4A35C2-6210-DFF4-9E2A-B3E2A7A930C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2ECCF4C3-02D6-8691-C8F3-003C9CE750FF}"/>
              </a:ext>
            </a:extLst>
          </p:cNvPr>
          <p:cNvSpPr>
            <a:spLocks noGrp="1"/>
          </p:cNvSpPr>
          <p:nvPr>
            <p:ph type="sldNum" sz="quarter" idx="12"/>
          </p:nvPr>
        </p:nvSpPr>
        <p:spPr/>
        <p:txBody>
          <a:bodyPr/>
          <a:lstStyle/>
          <a:p>
            <a:fld id="{5730C706-F2BA-49C7-815B-68A8EF0AF516}" type="slidenum">
              <a:rPr lang="en-IN" smtClean="0"/>
              <a:t>‹#›</a:t>
            </a:fld>
            <a:endParaRPr lang="en-IN" dirty="0"/>
          </a:p>
        </p:txBody>
      </p:sp>
    </p:spTree>
    <p:extLst>
      <p:ext uri="{BB962C8B-B14F-4D97-AF65-F5344CB8AC3E}">
        <p14:creationId xmlns:p14="http://schemas.microsoft.com/office/powerpoint/2010/main" val="3901423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678B8BB-F2C5-7C0F-3F30-20A9FB06F1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000D61A-EF1B-C6FB-DF74-7ADE3D0D3E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3F9A10-D966-D459-CE49-8927CF1C84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5D42B0-2003-4A28-91CC-399D9621FFA8}" type="datetimeFigureOut">
              <a:rPr lang="en-IN" smtClean="0"/>
              <a:t>23-10-2025</a:t>
            </a:fld>
            <a:endParaRPr lang="en-IN" dirty="0"/>
          </a:p>
        </p:txBody>
      </p:sp>
      <p:sp>
        <p:nvSpPr>
          <p:cNvPr id="5" name="Footer Placeholder 4">
            <a:extLst>
              <a:ext uri="{FF2B5EF4-FFF2-40B4-BE49-F238E27FC236}">
                <a16:creationId xmlns:a16="http://schemas.microsoft.com/office/drawing/2014/main" id="{12B685AC-D49A-648A-4EF0-B86BE2D1DA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D41E3C52-E794-7020-6D8F-8923DA0A88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730C706-F2BA-49C7-815B-68A8EF0AF516}" type="slidenum">
              <a:rPr lang="en-IN" smtClean="0"/>
              <a:t>‹#›</a:t>
            </a:fld>
            <a:endParaRPr lang="en-IN" dirty="0"/>
          </a:p>
        </p:txBody>
      </p:sp>
    </p:spTree>
    <p:extLst>
      <p:ext uri="{BB962C8B-B14F-4D97-AF65-F5344CB8AC3E}">
        <p14:creationId xmlns:p14="http://schemas.microsoft.com/office/powerpoint/2010/main" val="7430147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E0A119-4B5D-B851-DD08-F478A67F7F33}"/>
              </a:ext>
            </a:extLst>
          </p:cNvPr>
          <p:cNvSpPr>
            <a:spLocks noGrp="1"/>
          </p:cNvSpPr>
          <p:nvPr>
            <p:ph type="ctrTitle"/>
          </p:nvPr>
        </p:nvSpPr>
        <p:spPr>
          <a:xfrm>
            <a:off x="1332271" y="1051763"/>
            <a:ext cx="9144000" cy="2387600"/>
          </a:xfrm>
        </p:spPr>
        <p:txBody>
          <a:bodyPr>
            <a:noAutofit/>
          </a:bodyPr>
          <a:lstStyle/>
          <a:p>
            <a:r>
              <a:rPr lang="en-IN" sz="3600" b="1" dirty="0"/>
              <a:t>Complaint Care</a:t>
            </a:r>
            <a:br>
              <a:rPr lang="en-IN" sz="3400" b="1" dirty="0"/>
            </a:br>
            <a:r>
              <a:rPr lang="en-IN" sz="3400" b="1" dirty="0"/>
              <a:t>A Complaint Management System With AI Chatbot Integration &amp; Transformer-based Architecture For Ticket Management System</a:t>
            </a:r>
            <a:endParaRPr lang="en-IN" sz="3400" b="1" dirty="0">
              <a:cs typeface="Times New Roman" panose="02020603050405020304" pitchFamily="18" charset="0"/>
            </a:endParaRPr>
          </a:p>
        </p:txBody>
      </p:sp>
      <p:pic>
        <p:nvPicPr>
          <p:cNvPr id="5" name="Picture 4">
            <a:extLst>
              <a:ext uri="{FF2B5EF4-FFF2-40B4-BE49-F238E27FC236}">
                <a16:creationId xmlns:a16="http://schemas.microsoft.com/office/drawing/2014/main" id="{DB8529DF-34B4-4AC4-1D29-5832D0BF92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347188"/>
            <a:ext cx="8760542" cy="1190658"/>
          </a:xfrm>
          <a:prstGeom prst="rect">
            <a:avLst/>
          </a:prstGeom>
        </p:spPr>
      </p:pic>
      <p:graphicFrame>
        <p:nvGraphicFramePr>
          <p:cNvPr id="6" name="Table 5">
            <a:extLst>
              <a:ext uri="{FF2B5EF4-FFF2-40B4-BE49-F238E27FC236}">
                <a16:creationId xmlns:a16="http://schemas.microsoft.com/office/drawing/2014/main" id="{70766DB3-3A6E-EF2D-EAF7-90E1BA26F530}"/>
              </a:ext>
            </a:extLst>
          </p:cNvPr>
          <p:cNvGraphicFramePr>
            <a:graphicFrameLocks noGrp="1"/>
          </p:cNvGraphicFramePr>
          <p:nvPr>
            <p:extLst>
              <p:ext uri="{D42A27DB-BD31-4B8C-83A1-F6EECF244321}">
                <p14:modId xmlns:p14="http://schemas.microsoft.com/office/powerpoint/2010/main" val="3831819865"/>
              </p:ext>
            </p:extLst>
          </p:nvPr>
        </p:nvGraphicFramePr>
        <p:xfrm>
          <a:off x="1840271" y="3462007"/>
          <a:ext cx="8128000" cy="2622354"/>
        </p:xfrm>
        <a:graphic>
          <a:graphicData uri="http://schemas.openxmlformats.org/drawingml/2006/table">
            <a:tbl>
              <a:tblPr firstRow="1" bandRow="1">
                <a:tableStyleId>{5C22544A-7EE6-4342-B048-85BDC9FD1C3A}</a:tableStyleId>
              </a:tblPr>
              <a:tblGrid>
                <a:gridCol w="4560529">
                  <a:extLst>
                    <a:ext uri="{9D8B030D-6E8A-4147-A177-3AD203B41FA5}">
                      <a16:colId xmlns:a16="http://schemas.microsoft.com/office/drawing/2014/main" val="456782889"/>
                    </a:ext>
                  </a:extLst>
                </a:gridCol>
                <a:gridCol w="3567471">
                  <a:extLst>
                    <a:ext uri="{9D8B030D-6E8A-4147-A177-3AD203B41FA5}">
                      <a16:colId xmlns:a16="http://schemas.microsoft.com/office/drawing/2014/main" val="2200280288"/>
                    </a:ext>
                  </a:extLst>
                </a:gridCol>
              </a:tblGrid>
              <a:tr h="369374">
                <a:tc>
                  <a:txBody>
                    <a:bodyPr/>
                    <a:lstStyle/>
                    <a:p>
                      <a:r>
                        <a:rPr lang="en-US" b="1" dirty="0"/>
                        <a:t>                             NAME</a:t>
                      </a:r>
                      <a:endParaRPr lang="en-IN" b="1" dirty="0"/>
                    </a:p>
                  </a:txBody>
                  <a:tcPr/>
                </a:tc>
                <a:tc>
                  <a:txBody>
                    <a:bodyPr/>
                    <a:lstStyle/>
                    <a:p>
                      <a:r>
                        <a:rPr lang="en-US" b="1" dirty="0"/>
                        <a:t>                               REG NO</a:t>
                      </a:r>
                      <a:endParaRPr lang="en-IN" b="1" dirty="0"/>
                    </a:p>
                  </a:txBody>
                  <a:tcPr/>
                </a:tc>
                <a:extLst>
                  <a:ext uri="{0D108BD9-81ED-4DB2-BD59-A6C34878D82A}">
                    <a16:rowId xmlns:a16="http://schemas.microsoft.com/office/drawing/2014/main" val="1254703670"/>
                  </a:ext>
                </a:extLst>
              </a:tr>
              <a:tr h="486969">
                <a:tc>
                  <a:txBody>
                    <a:bodyPr/>
                    <a:lstStyle/>
                    <a:p>
                      <a:pPr algn="l">
                        <a:lnSpc>
                          <a:spcPct val="200000"/>
                        </a:lnSpc>
                      </a:pPr>
                      <a:r>
                        <a:rPr lang="en-IN" b="1" dirty="0"/>
                        <a:t>GANIPINENI BHARDWAJ NAIDU</a:t>
                      </a:r>
                    </a:p>
                  </a:txBody>
                  <a:tcPr/>
                </a:tc>
                <a:tc>
                  <a:txBody>
                    <a:bodyPr/>
                    <a:lstStyle/>
                    <a:p>
                      <a:pPr algn="l">
                        <a:lnSpc>
                          <a:spcPct val="200000"/>
                        </a:lnSpc>
                      </a:pPr>
                      <a:r>
                        <a:rPr lang="en-IN" b="1" dirty="0"/>
                        <a:t>99220040844 </a:t>
                      </a:r>
                    </a:p>
                  </a:txBody>
                  <a:tcPr/>
                </a:tc>
                <a:extLst>
                  <a:ext uri="{0D108BD9-81ED-4DB2-BD59-A6C34878D82A}">
                    <a16:rowId xmlns:a16="http://schemas.microsoft.com/office/drawing/2014/main" val="2299811240"/>
                  </a:ext>
                </a:extLst>
              </a:tr>
              <a:tr h="480298">
                <a:tc>
                  <a:txBody>
                    <a:bodyPr/>
                    <a:lstStyle/>
                    <a:p>
                      <a:pPr algn="l">
                        <a:lnSpc>
                          <a:spcPct val="200000"/>
                        </a:lnSpc>
                      </a:pPr>
                      <a:r>
                        <a:rPr lang="en-IN" b="1" dirty="0"/>
                        <a:t>BYREDDY RAMI REDDY</a:t>
                      </a:r>
                    </a:p>
                  </a:txBody>
                  <a:tcPr/>
                </a:tc>
                <a:tc>
                  <a:txBody>
                    <a:bodyPr/>
                    <a:lstStyle/>
                    <a:p>
                      <a:pPr algn="l">
                        <a:lnSpc>
                          <a:spcPct val="200000"/>
                        </a:lnSpc>
                      </a:pPr>
                      <a:r>
                        <a:rPr lang="en-IN" b="1" dirty="0"/>
                        <a:t>99220040816</a:t>
                      </a:r>
                    </a:p>
                  </a:txBody>
                  <a:tcPr/>
                </a:tc>
                <a:extLst>
                  <a:ext uri="{0D108BD9-81ED-4DB2-BD59-A6C34878D82A}">
                    <a16:rowId xmlns:a16="http://schemas.microsoft.com/office/drawing/2014/main" val="730426622"/>
                  </a:ext>
                </a:extLst>
              </a:tr>
              <a:tr h="486969">
                <a:tc>
                  <a:txBody>
                    <a:bodyPr/>
                    <a:lstStyle/>
                    <a:p>
                      <a:pPr algn="l">
                        <a:lnSpc>
                          <a:spcPct val="200000"/>
                        </a:lnSpc>
                      </a:pPr>
                      <a:r>
                        <a:rPr lang="en-IN" b="1" dirty="0"/>
                        <a:t>GUVVALA HARSHAVARDHAN REDDY</a:t>
                      </a:r>
                    </a:p>
                  </a:txBody>
                  <a:tcPr/>
                </a:tc>
                <a:tc>
                  <a:txBody>
                    <a:bodyPr/>
                    <a:lstStyle/>
                    <a:p>
                      <a:pPr algn="l">
                        <a:lnSpc>
                          <a:spcPct val="200000"/>
                        </a:lnSpc>
                      </a:pPr>
                      <a:r>
                        <a:rPr lang="en-IN" b="1" dirty="0"/>
                        <a:t>99220040858</a:t>
                      </a:r>
                    </a:p>
                  </a:txBody>
                  <a:tcPr/>
                </a:tc>
                <a:extLst>
                  <a:ext uri="{0D108BD9-81ED-4DB2-BD59-A6C34878D82A}">
                    <a16:rowId xmlns:a16="http://schemas.microsoft.com/office/drawing/2014/main" val="1614137697"/>
                  </a:ext>
                </a:extLst>
              </a:tr>
              <a:tr h="486969">
                <a:tc>
                  <a:txBody>
                    <a:bodyPr/>
                    <a:lstStyle/>
                    <a:p>
                      <a:pPr algn="l">
                        <a:lnSpc>
                          <a:spcPct val="200000"/>
                        </a:lnSpc>
                      </a:pPr>
                      <a:r>
                        <a:rPr lang="fi-FI" b="1" dirty="0"/>
                        <a:t>KADAPANA VENKATA SIVA MAHIDHAR REDDY</a:t>
                      </a:r>
                      <a:endParaRPr lang="en-IN" b="1" dirty="0"/>
                    </a:p>
                  </a:txBody>
                  <a:tcPr/>
                </a:tc>
                <a:tc>
                  <a:txBody>
                    <a:bodyPr/>
                    <a:lstStyle/>
                    <a:p>
                      <a:pPr algn="l">
                        <a:lnSpc>
                          <a:spcPct val="200000"/>
                        </a:lnSpc>
                      </a:pPr>
                      <a:r>
                        <a:rPr lang="en-IN" b="1" dirty="0"/>
                        <a:t>99220040868</a:t>
                      </a:r>
                    </a:p>
                  </a:txBody>
                  <a:tcPr/>
                </a:tc>
                <a:extLst>
                  <a:ext uri="{0D108BD9-81ED-4DB2-BD59-A6C34878D82A}">
                    <a16:rowId xmlns:a16="http://schemas.microsoft.com/office/drawing/2014/main" val="1170685962"/>
                  </a:ext>
                </a:extLst>
              </a:tr>
            </a:tbl>
          </a:graphicData>
        </a:graphic>
      </p:graphicFrame>
      <p:sp>
        <p:nvSpPr>
          <p:cNvPr id="7" name="TextBox 6">
            <a:extLst>
              <a:ext uri="{FF2B5EF4-FFF2-40B4-BE49-F238E27FC236}">
                <a16:creationId xmlns:a16="http://schemas.microsoft.com/office/drawing/2014/main" id="{13E6F784-98F0-FF3D-E6AB-C5A88352B9A2}"/>
              </a:ext>
            </a:extLst>
          </p:cNvPr>
          <p:cNvSpPr txBox="1"/>
          <p:nvPr/>
        </p:nvSpPr>
        <p:spPr>
          <a:xfrm>
            <a:off x="4522839" y="5584721"/>
            <a:ext cx="7669161" cy="2308324"/>
          </a:xfrm>
          <a:prstGeom prst="rect">
            <a:avLst/>
          </a:prstGeom>
          <a:noFill/>
        </p:spPr>
        <p:txBody>
          <a:bodyPr wrap="square" rtlCol="0">
            <a:spAutoFit/>
          </a:bodyPr>
          <a:lstStyle/>
          <a:p>
            <a:endParaRPr lang="en-IN" dirty="0"/>
          </a:p>
          <a:p>
            <a:endParaRPr lang="en-IN" dirty="0"/>
          </a:p>
          <a:p>
            <a:r>
              <a:rPr lang="en-IN" dirty="0"/>
              <a:t>                                                                              </a:t>
            </a:r>
            <a:r>
              <a:rPr lang="en-IN" dirty="0">
                <a:latin typeface="Times New Roman" panose="02020603050405020304" pitchFamily="18" charset="0"/>
                <a:cs typeface="Times New Roman" panose="02020603050405020304" pitchFamily="18" charset="0"/>
              </a:rPr>
              <a:t>Guided by :Dr .T. ManiKumar</a:t>
            </a:r>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3226383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533D6-912B-4938-D464-4AE21BE4E8A1}"/>
              </a:ext>
            </a:extLst>
          </p:cNvPr>
          <p:cNvSpPr>
            <a:spLocks noGrp="1"/>
          </p:cNvSpPr>
          <p:nvPr>
            <p:ph type="ctrTitle"/>
          </p:nvPr>
        </p:nvSpPr>
        <p:spPr>
          <a:xfrm>
            <a:off x="4521690" y="1497232"/>
            <a:ext cx="2959510" cy="1130557"/>
          </a:xfrm>
        </p:spPr>
        <p:txBody>
          <a:bodyPr>
            <a:normAutofit/>
          </a:bodyPr>
          <a:lstStyle/>
          <a:p>
            <a:r>
              <a:rPr lang="en-US" sz="4000" dirty="0">
                <a:latin typeface="Times New Roman" panose="02020603050405020304" pitchFamily="18" charset="0"/>
                <a:cs typeface="Times New Roman" panose="02020603050405020304" pitchFamily="18" charset="0"/>
              </a:rPr>
              <a:t>Abstract</a:t>
            </a:r>
            <a:endParaRPr lang="en-IN" sz="4400" dirty="0"/>
          </a:p>
        </p:txBody>
      </p:sp>
      <p:sp>
        <p:nvSpPr>
          <p:cNvPr id="3" name="Subtitle 2">
            <a:extLst>
              <a:ext uri="{FF2B5EF4-FFF2-40B4-BE49-F238E27FC236}">
                <a16:creationId xmlns:a16="http://schemas.microsoft.com/office/drawing/2014/main" id="{EEA7E511-FBEA-D973-8BA7-A61D0A98064D}"/>
              </a:ext>
            </a:extLst>
          </p:cNvPr>
          <p:cNvSpPr>
            <a:spLocks noGrp="1"/>
          </p:cNvSpPr>
          <p:nvPr>
            <p:ph type="subTitle" idx="1"/>
          </p:nvPr>
        </p:nvSpPr>
        <p:spPr>
          <a:xfrm>
            <a:off x="285135" y="3332165"/>
            <a:ext cx="11216312" cy="2803163"/>
          </a:xfrm>
        </p:spPr>
        <p:txBody>
          <a:bodyPr>
            <a:noAutofit/>
          </a:bodyPr>
          <a:lstStyle/>
          <a:p>
            <a:pPr algn="just"/>
            <a:endParaRPr lang="en-US" sz="1200" dirty="0">
              <a:latin typeface="Times New Roman" panose="02020603050405020304" pitchFamily="18" charset="0"/>
              <a:cs typeface="Times New Roman" panose="02020603050405020304" pitchFamily="18" charset="0"/>
            </a:endParaRPr>
          </a:p>
          <a:p>
            <a:pPr algn="just"/>
            <a:endParaRPr lang="en-IN" sz="12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4247665-313A-0B6A-B925-B70B199010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59404"/>
            <a:ext cx="8416414" cy="1130557"/>
          </a:xfrm>
          <a:prstGeom prst="rect">
            <a:avLst/>
          </a:prstGeom>
        </p:spPr>
      </p:pic>
      <p:sp>
        <p:nvSpPr>
          <p:cNvPr id="9" name="Rectangle 4">
            <a:extLst>
              <a:ext uri="{FF2B5EF4-FFF2-40B4-BE49-F238E27FC236}">
                <a16:creationId xmlns:a16="http://schemas.microsoft.com/office/drawing/2014/main" id="{6E199397-E712-6C7C-459A-6E59C84AD036}"/>
              </a:ext>
            </a:extLst>
          </p:cNvPr>
          <p:cNvSpPr>
            <a:spLocks noChangeArrowheads="1"/>
          </p:cNvSpPr>
          <p:nvPr/>
        </p:nvSpPr>
        <p:spPr bwMode="auto">
          <a:xfrm>
            <a:off x="1050471" y="2806223"/>
            <a:ext cx="10140043"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r>
              <a:rPr lang="en-US" sz="2000" b="1" dirty="0"/>
              <a:t>		Complaint Care</a:t>
            </a:r>
            <a:r>
              <a:rPr lang="en-US" sz="2000" dirty="0"/>
              <a:t> is designed to provide a streamlined and intelligent framework for grievance redressal. It enables users to register complaints, track their status in real time, and receive timely updates, while administrators manage and resolve issues through a structured ticketing system. With an integrated AI chatbot, the platform enhances user interaction by offering instant assistance, while a transformer-based model ensures accurate categorization and prioritization of complaints. This reduces workload, improves accountability, and accelerates resolution, delivering a transparent, efficient, and user-friendly complaint management solution.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80018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FB9F4-333B-672C-ED1F-7572118736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AE73DB-2D01-9973-8A86-D4800FDB4B14}"/>
              </a:ext>
            </a:extLst>
          </p:cNvPr>
          <p:cNvSpPr>
            <a:spLocks noGrp="1"/>
          </p:cNvSpPr>
          <p:nvPr>
            <p:ph type="ctrTitle"/>
          </p:nvPr>
        </p:nvSpPr>
        <p:spPr>
          <a:xfrm>
            <a:off x="4310080" y="1497232"/>
            <a:ext cx="3620824" cy="1130557"/>
          </a:xfrm>
        </p:spPr>
        <p:txBody>
          <a:bodyPr>
            <a:normAutofit/>
          </a:bodyPr>
          <a:lstStyle/>
          <a:p>
            <a:r>
              <a:rPr lang="en-IN" sz="4000" b="1" dirty="0"/>
              <a:t>Project Overview</a:t>
            </a:r>
            <a:endParaRPr lang="en-IN" sz="4400" b="1" dirty="0"/>
          </a:p>
        </p:txBody>
      </p:sp>
      <p:sp>
        <p:nvSpPr>
          <p:cNvPr id="3" name="Subtitle 2">
            <a:extLst>
              <a:ext uri="{FF2B5EF4-FFF2-40B4-BE49-F238E27FC236}">
                <a16:creationId xmlns:a16="http://schemas.microsoft.com/office/drawing/2014/main" id="{397CBA8A-648C-07CE-EEAA-D3D49A51D1A8}"/>
              </a:ext>
            </a:extLst>
          </p:cNvPr>
          <p:cNvSpPr>
            <a:spLocks noGrp="1"/>
          </p:cNvSpPr>
          <p:nvPr>
            <p:ph type="subTitle" idx="1"/>
          </p:nvPr>
        </p:nvSpPr>
        <p:spPr>
          <a:xfrm>
            <a:off x="285135" y="3332165"/>
            <a:ext cx="11216312" cy="2803163"/>
          </a:xfrm>
        </p:spPr>
        <p:txBody>
          <a:bodyPr>
            <a:noAutofit/>
          </a:bodyPr>
          <a:lstStyle/>
          <a:p>
            <a:pPr algn="just"/>
            <a:endParaRPr lang="en-US" sz="1200" dirty="0">
              <a:latin typeface="Times New Roman" panose="02020603050405020304" pitchFamily="18" charset="0"/>
              <a:cs typeface="Times New Roman" panose="02020603050405020304" pitchFamily="18" charset="0"/>
            </a:endParaRPr>
          </a:p>
          <a:p>
            <a:pPr algn="just"/>
            <a:endParaRPr lang="en-IN" sz="12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FC5CF097-FEBE-EA11-703E-3622292EFC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0" y="159404"/>
            <a:ext cx="8416414" cy="1130557"/>
          </a:xfrm>
          <a:prstGeom prst="rect">
            <a:avLst/>
          </a:prstGeom>
        </p:spPr>
      </p:pic>
      <p:sp>
        <p:nvSpPr>
          <p:cNvPr id="9" name="Rectangle 4">
            <a:extLst>
              <a:ext uri="{FF2B5EF4-FFF2-40B4-BE49-F238E27FC236}">
                <a16:creationId xmlns:a16="http://schemas.microsoft.com/office/drawing/2014/main" id="{E21D5B61-5D90-A605-12A7-36D84608E6E5}"/>
              </a:ext>
            </a:extLst>
          </p:cNvPr>
          <p:cNvSpPr>
            <a:spLocks noChangeArrowheads="1"/>
          </p:cNvSpPr>
          <p:nvPr/>
        </p:nvSpPr>
        <p:spPr bwMode="auto">
          <a:xfrm>
            <a:off x="1050471" y="2960111"/>
            <a:ext cx="10140043"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Wingdings" panose="05000000000000000000" pitchFamily="2" charset="2"/>
              <a:buChar char="Ø"/>
            </a:pPr>
            <a:r>
              <a:rPr lang="en-US" sz="2000" dirty="0"/>
              <a:t>Provides a centralized platform for complaint registration and tracking.</a:t>
            </a:r>
          </a:p>
          <a:p>
            <a:pPr marL="342900" indent="-342900">
              <a:buFont typeface="Wingdings" panose="05000000000000000000" pitchFamily="2" charset="2"/>
              <a:buChar char="Ø"/>
            </a:pPr>
            <a:r>
              <a:rPr lang="en-US" sz="2000" dirty="0"/>
              <a:t>Replaces manual processes with a structured ticket management system.</a:t>
            </a:r>
          </a:p>
          <a:p>
            <a:pPr marL="342900" indent="-342900">
              <a:buFont typeface="Wingdings" panose="05000000000000000000" pitchFamily="2" charset="2"/>
              <a:buChar char="Ø"/>
            </a:pPr>
            <a:r>
              <a:rPr lang="en-US" sz="2000" dirty="0"/>
              <a:t>Integrates an AI chatbot for instant user assistance.</a:t>
            </a:r>
          </a:p>
          <a:p>
            <a:pPr marL="342900" indent="-342900">
              <a:buFont typeface="Wingdings" panose="05000000000000000000" pitchFamily="2" charset="2"/>
              <a:buChar char="Ø"/>
            </a:pPr>
            <a:r>
              <a:rPr lang="en-US" sz="2000" dirty="0"/>
              <a:t>Uses transformer-based models for automatic categorization and prioritization.</a:t>
            </a:r>
          </a:p>
          <a:p>
            <a:pPr marL="342900" indent="-342900">
              <a:buFont typeface="Wingdings" panose="05000000000000000000" pitchFamily="2" charset="2"/>
              <a:buChar char="Ø"/>
            </a:pPr>
            <a:r>
              <a:rPr lang="en-US" sz="2000" dirty="0"/>
              <a:t>Ensures real-time status updates for users.</a:t>
            </a:r>
          </a:p>
          <a:p>
            <a:pPr marL="342900" indent="-342900">
              <a:buFont typeface="Wingdings" panose="05000000000000000000" pitchFamily="2" charset="2"/>
              <a:buChar char="Ø"/>
            </a:pPr>
            <a:r>
              <a:rPr lang="en-US" sz="2000" dirty="0"/>
              <a:t>Enables administrators to efficiently manage and resolve complaints.</a:t>
            </a:r>
          </a:p>
          <a:p>
            <a:pPr marL="342900" indent="-342900">
              <a:buFont typeface="Wingdings" panose="05000000000000000000" pitchFamily="2" charset="2"/>
              <a:buChar char="Ø"/>
            </a:pPr>
            <a:r>
              <a:rPr lang="en-US" sz="2000" dirty="0"/>
              <a:t>Delivers transparency, faster resolution, and improved accountability.</a:t>
            </a:r>
          </a:p>
        </p:txBody>
      </p:sp>
    </p:spTree>
    <p:extLst>
      <p:ext uri="{BB962C8B-B14F-4D97-AF65-F5344CB8AC3E}">
        <p14:creationId xmlns:p14="http://schemas.microsoft.com/office/powerpoint/2010/main" val="7551661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82C75F-9AF3-0E72-4DD5-D9CDE515EDC7}"/>
              </a:ext>
            </a:extLst>
          </p:cNvPr>
          <p:cNvSpPr>
            <a:spLocks noGrp="1"/>
          </p:cNvSpPr>
          <p:nvPr>
            <p:ph type="ctrTitle"/>
          </p:nvPr>
        </p:nvSpPr>
        <p:spPr>
          <a:xfrm>
            <a:off x="206477" y="325951"/>
            <a:ext cx="9144000" cy="2387600"/>
          </a:xfrm>
        </p:spPr>
        <p:txBody>
          <a:bodyPr/>
          <a:lstStyle/>
          <a:p>
            <a:r>
              <a:rPr lang="en-US" dirty="0">
                <a:latin typeface="Times New Roman" panose="02020603050405020304" pitchFamily="18" charset="0"/>
                <a:cs typeface="Times New Roman" panose="02020603050405020304" pitchFamily="18" charset="0"/>
              </a:rPr>
              <a:t>           </a:t>
            </a:r>
            <a:r>
              <a:rPr lang="en-US" sz="4000" dirty="0">
                <a:latin typeface="Times New Roman" panose="02020603050405020304" pitchFamily="18" charset="0"/>
                <a:cs typeface="Times New Roman" panose="02020603050405020304" pitchFamily="18" charset="0"/>
              </a:rPr>
              <a:t>Problem Statement</a:t>
            </a:r>
            <a:endParaRPr lang="en-IN" sz="4000" dirty="0"/>
          </a:p>
        </p:txBody>
      </p:sp>
      <p:sp>
        <p:nvSpPr>
          <p:cNvPr id="3" name="Subtitle 2">
            <a:extLst>
              <a:ext uri="{FF2B5EF4-FFF2-40B4-BE49-F238E27FC236}">
                <a16:creationId xmlns:a16="http://schemas.microsoft.com/office/drawing/2014/main" id="{A311B9E9-64F4-6ED9-1688-45FA03A0B867}"/>
              </a:ext>
            </a:extLst>
          </p:cNvPr>
          <p:cNvSpPr>
            <a:spLocks noGrp="1"/>
          </p:cNvSpPr>
          <p:nvPr>
            <p:ph type="subTitle" idx="1"/>
          </p:nvPr>
        </p:nvSpPr>
        <p:spPr>
          <a:xfrm>
            <a:off x="648928" y="2937496"/>
            <a:ext cx="10491020" cy="3126810"/>
          </a:xfrm>
        </p:spPr>
        <p:txBody>
          <a:bodyPr>
            <a:normAutofit/>
          </a:bodyPr>
          <a:lstStyle/>
          <a:p>
            <a:pPr algn="just"/>
            <a:r>
              <a:rPr lang="en-US" sz="2000" dirty="0"/>
              <a:t>	Traditional complaint management systems in organizations and institutions often face inefficiencies due to manual categorization, prioritization, and resolution of complaints, which leads to delays, unresolved issues, and lack of transparency. Existing systems lack intelligent features such as automated ticket classification, real-time prioritization, multilingual support, and chatbot assistance, resulting in poor user satisfaction and ineffective grievance redressal. Therefore, there is a need for an AI-powered complaint management system that leverages NLP and machine learning to automate categorization, assign priority, provide real-time updates, and improve overall efficiency, scalability, and transparency in handling complaints.</a:t>
            </a:r>
            <a:endParaRPr lang="en-IN" sz="2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941C8B5-D336-5F13-4D60-1929534A1D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3998" y="43012"/>
            <a:ext cx="8740880" cy="1108957"/>
          </a:xfrm>
          <a:prstGeom prst="rect">
            <a:avLst/>
          </a:prstGeom>
        </p:spPr>
      </p:pic>
    </p:spTree>
    <p:extLst>
      <p:ext uri="{BB962C8B-B14F-4D97-AF65-F5344CB8AC3E}">
        <p14:creationId xmlns:p14="http://schemas.microsoft.com/office/powerpoint/2010/main" val="2183076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49BC0-3849-4988-383F-522DA8F76596}"/>
              </a:ext>
            </a:extLst>
          </p:cNvPr>
          <p:cNvSpPr>
            <a:spLocks noGrp="1"/>
          </p:cNvSpPr>
          <p:nvPr>
            <p:ph type="ctrTitle"/>
          </p:nvPr>
        </p:nvSpPr>
        <p:spPr>
          <a:xfrm>
            <a:off x="1524000" y="331991"/>
            <a:ext cx="9144000" cy="1722437"/>
          </a:xfrm>
        </p:spPr>
        <p:txBody>
          <a:bodyPr>
            <a:normAutofit/>
          </a:bodyPr>
          <a:lstStyle/>
          <a:p>
            <a:r>
              <a:rPr lang="en-US" sz="4000" dirty="0">
                <a:latin typeface="Times New Roman" panose="02020603050405020304" pitchFamily="18" charset="0"/>
                <a:cs typeface="Times New Roman" panose="02020603050405020304" pitchFamily="18" charset="0"/>
              </a:rPr>
              <a:t>Literature Review</a:t>
            </a:r>
            <a:endParaRPr lang="en-IN" sz="4000"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198ED2BC-8651-7E81-B06D-E38B0D456C23}"/>
              </a:ext>
            </a:extLst>
          </p:cNvPr>
          <p:cNvGraphicFramePr>
            <a:graphicFrameLocks noGrp="1"/>
          </p:cNvGraphicFramePr>
          <p:nvPr>
            <p:extLst>
              <p:ext uri="{D42A27DB-BD31-4B8C-83A1-F6EECF244321}">
                <p14:modId xmlns:p14="http://schemas.microsoft.com/office/powerpoint/2010/main" val="1973775501"/>
              </p:ext>
            </p:extLst>
          </p:nvPr>
        </p:nvGraphicFramePr>
        <p:xfrm>
          <a:off x="212007" y="2160647"/>
          <a:ext cx="11767986" cy="4389120"/>
        </p:xfrm>
        <a:graphic>
          <a:graphicData uri="http://schemas.openxmlformats.org/drawingml/2006/table">
            <a:tbl>
              <a:tblPr firstRow="1" bandRow="1">
                <a:tableStyleId>{5C22544A-7EE6-4342-B048-85BDC9FD1C3A}</a:tableStyleId>
              </a:tblPr>
              <a:tblGrid>
                <a:gridCol w="1961331">
                  <a:extLst>
                    <a:ext uri="{9D8B030D-6E8A-4147-A177-3AD203B41FA5}">
                      <a16:colId xmlns:a16="http://schemas.microsoft.com/office/drawing/2014/main" val="2244311880"/>
                    </a:ext>
                  </a:extLst>
                </a:gridCol>
                <a:gridCol w="1952348">
                  <a:extLst>
                    <a:ext uri="{9D8B030D-6E8A-4147-A177-3AD203B41FA5}">
                      <a16:colId xmlns:a16="http://schemas.microsoft.com/office/drawing/2014/main" val="2220068510"/>
                    </a:ext>
                  </a:extLst>
                </a:gridCol>
                <a:gridCol w="1970314">
                  <a:extLst>
                    <a:ext uri="{9D8B030D-6E8A-4147-A177-3AD203B41FA5}">
                      <a16:colId xmlns:a16="http://schemas.microsoft.com/office/drawing/2014/main" val="2538870820"/>
                    </a:ext>
                  </a:extLst>
                </a:gridCol>
                <a:gridCol w="1961331">
                  <a:extLst>
                    <a:ext uri="{9D8B030D-6E8A-4147-A177-3AD203B41FA5}">
                      <a16:colId xmlns:a16="http://schemas.microsoft.com/office/drawing/2014/main" val="3059624419"/>
                    </a:ext>
                  </a:extLst>
                </a:gridCol>
                <a:gridCol w="1206674">
                  <a:extLst>
                    <a:ext uri="{9D8B030D-6E8A-4147-A177-3AD203B41FA5}">
                      <a16:colId xmlns:a16="http://schemas.microsoft.com/office/drawing/2014/main" val="2852320909"/>
                    </a:ext>
                  </a:extLst>
                </a:gridCol>
                <a:gridCol w="2715988">
                  <a:extLst>
                    <a:ext uri="{9D8B030D-6E8A-4147-A177-3AD203B41FA5}">
                      <a16:colId xmlns:a16="http://schemas.microsoft.com/office/drawing/2014/main" val="2785242330"/>
                    </a:ext>
                  </a:extLst>
                </a:gridCol>
              </a:tblGrid>
              <a:tr h="355015">
                <a:tc>
                  <a:txBody>
                    <a:bodyPr/>
                    <a:lstStyle/>
                    <a:p>
                      <a:pPr>
                        <a:buNone/>
                      </a:pPr>
                      <a:r>
                        <a:rPr lang="en-IN" dirty="0" err="1"/>
                        <a:t>S.No</a:t>
                      </a:r>
                      <a:endParaRPr lang="en-IN" dirty="0"/>
                    </a:p>
                  </a:txBody>
                  <a:tcPr anchor="ctr"/>
                </a:tc>
                <a:tc>
                  <a:txBody>
                    <a:bodyPr/>
                    <a:lstStyle/>
                    <a:p>
                      <a:pPr>
                        <a:buNone/>
                      </a:pPr>
                      <a:r>
                        <a:rPr lang="en-IN"/>
                        <a:t>Title</a:t>
                      </a:r>
                    </a:p>
                  </a:txBody>
                  <a:tcPr anchor="ctr"/>
                </a:tc>
                <a:tc>
                  <a:txBody>
                    <a:bodyPr/>
                    <a:lstStyle/>
                    <a:p>
                      <a:pPr>
                        <a:buNone/>
                      </a:pPr>
                      <a:r>
                        <a:rPr lang="en-IN"/>
                        <a:t>Author(s)</a:t>
                      </a:r>
                    </a:p>
                  </a:txBody>
                  <a:tcPr anchor="ctr"/>
                </a:tc>
                <a:tc>
                  <a:txBody>
                    <a:bodyPr/>
                    <a:lstStyle/>
                    <a:p>
                      <a:pPr>
                        <a:buNone/>
                      </a:pPr>
                      <a:r>
                        <a:rPr lang="en-IN"/>
                        <a:t>Publisher/Journal</a:t>
                      </a:r>
                    </a:p>
                  </a:txBody>
                  <a:tcPr anchor="ctr"/>
                </a:tc>
                <a:tc>
                  <a:txBody>
                    <a:bodyPr/>
                    <a:lstStyle/>
                    <a:p>
                      <a:pPr>
                        <a:buNone/>
                      </a:pPr>
                      <a:r>
                        <a:rPr lang="en-IN"/>
                        <a:t>Year</a:t>
                      </a:r>
                    </a:p>
                  </a:txBody>
                  <a:tcPr anchor="ctr"/>
                </a:tc>
                <a:tc>
                  <a:txBody>
                    <a:bodyPr/>
                    <a:lstStyle/>
                    <a:p>
                      <a:pPr>
                        <a:buNone/>
                      </a:pPr>
                      <a:r>
                        <a:rPr lang="en-IN" dirty="0"/>
                        <a:t>Remarks</a:t>
                      </a:r>
                    </a:p>
                  </a:txBody>
                  <a:tcPr anchor="ctr"/>
                </a:tc>
                <a:extLst>
                  <a:ext uri="{0D108BD9-81ED-4DB2-BD59-A6C34878D82A}">
                    <a16:rowId xmlns:a16="http://schemas.microsoft.com/office/drawing/2014/main" val="3498314295"/>
                  </a:ext>
                </a:extLst>
              </a:tr>
              <a:tr h="1267911">
                <a:tc>
                  <a:txBody>
                    <a:bodyPr/>
                    <a:lstStyle/>
                    <a:p>
                      <a:pPr>
                        <a:buNone/>
                      </a:pPr>
                      <a:r>
                        <a:rPr lang="en-IN" dirty="0"/>
                        <a:t>1.</a:t>
                      </a:r>
                    </a:p>
                  </a:txBody>
                  <a:tcPr anchor="ctr"/>
                </a:tc>
                <a:tc>
                  <a:txBody>
                    <a:bodyPr/>
                    <a:lstStyle/>
                    <a:p>
                      <a:pPr>
                        <a:buNone/>
                      </a:pPr>
                      <a:r>
                        <a:rPr lang="en-IN"/>
                        <a:t>AI-Driven Complaint Classification in Smart Cities</a:t>
                      </a:r>
                    </a:p>
                  </a:txBody>
                  <a:tcPr anchor="ctr"/>
                </a:tc>
                <a:tc>
                  <a:txBody>
                    <a:bodyPr/>
                    <a:lstStyle/>
                    <a:p>
                      <a:pPr>
                        <a:buNone/>
                      </a:pPr>
                      <a:r>
                        <a:rPr lang="en-IN" dirty="0"/>
                        <a:t>R. Mehta, S. Kulkarni</a:t>
                      </a:r>
                    </a:p>
                  </a:txBody>
                  <a:tcPr anchor="ctr"/>
                </a:tc>
                <a:tc>
                  <a:txBody>
                    <a:bodyPr/>
                    <a:lstStyle/>
                    <a:p>
                      <a:pPr>
                        <a:buNone/>
                      </a:pPr>
                      <a:r>
                        <a:rPr lang="en-IN"/>
                        <a:t>IEEE Smart City Innovations</a:t>
                      </a:r>
                    </a:p>
                  </a:txBody>
                  <a:tcPr anchor="ctr"/>
                </a:tc>
                <a:tc>
                  <a:txBody>
                    <a:bodyPr/>
                    <a:lstStyle/>
                    <a:p>
                      <a:pPr>
                        <a:buNone/>
                      </a:pPr>
                      <a:r>
                        <a:rPr lang="en-IN"/>
                        <a:t>2021</a:t>
                      </a:r>
                    </a:p>
                  </a:txBody>
                  <a:tcPr anchor="ctr"/>
                </a:tc>
                <a:tc>
                  <a:txBody>
                    <a:bodyPr/>
                    <a:lstStyle/>
                    <a:p>
                      <a:pPr>
                        <a:buNone/>
                      </a:pPr>
                      <a:r>
                        <a:rPr lang="en-US" dirty="0"/>
                        <a:t>Focuses on automating complaint categorization using AI. Limitation: lacks real-time query resolution. </a:t>
                      </a:r>
                      <a:r>
                        <a:rPr lang="en-US" b="1" dirty="0"/>
                        <a:t>Our system overcomes this with an AI chatbot.</a:t>
                      </a:r>
                      <a:endParaRPr lang="en-US" dirty="0"/>
                    </a:p>
                  </a:txBody>
                  <a:tcPr anchor="ctr"/>
                </a:tc>
                <a:extLst>
                  <a:ext uri="{0D108BD9-81ED-4DB2-BD59-A6C34878D82A}">
                    <a16:rowId xmlns:a16="http://schemas.microsoft.com/office/drawing/2014/main" val="4043269598"/>
                  </a:ext>
                </a:extLst>
              </a:tr>
              <a:tr h="1267911">
                <a:tc>
                  <a:txBody>
                    <a:bodyPr/>
                    <a:lstStyle/>
                    <a:p>
                      <a:pPr>
                        <a:buNone/>
                      </a:pPr>
                      <a:r>
                        <a:rPr lang="en-IN" dirty="0"/>
                        <a:t>2.</a:t>
                      </a:r>
                    </a:p>
                  </a:txBody>
                  <a:tcPr anchor="ctr"/>
                </a:tc>
                <a:tc>
                  <a:txBody>
                    <a:bodyPr/>
                    <a:lstStyle/>
                    <a:p>
                      <a:pPr>
                        <a:buNone/>
                      </a:pPr>
                      <a:r>
                        <a:rPr lang="en-US" dirty="0"/>
                        <a:t>Web-Based Grievance Redressal Systems: A Case Study</a:t>
                      </a:r>
                      <a:endParaRPr lang="en-IN" dirty="0"/>
                    </a:p>
                  </a:txBody>
                  <a:tcPr anchor="ctr"/>
                </a:tc>
                <a:tc>
                  <a:txBody>
                    <a:bodyPr/>
                    <a:lstStyle/>
                    <a:p>
                      <a:pPr>
                        <a:buNone/>
                      </a:pPr>
                      <a:r>
                        <a:rPr lang="en-IN" dirty="0"/>
                        <a:t>P. Sharma, L. Verma</a:t>
                      </a:r>
                    </a:p>
                  </a:txBody>
                  <a:tcPr anchor="ctr"/>
                </a:tc>
                <a:tc>
                  <a:txBody>
                    <a:bodyPr/>
                    <a:lstStyle/>
                    <a:p>
                      <a:pPr>
                        <a:buNone/>
                      </a:pPr>
                      <a:r>
                        <a:rPr lang="en-IN" dirty="0"/>
                        <a:t>Springer Advances in Computing</a:t>
                      </a:r>
                    </a:p>
                  </a:txBody>
                  <a:tcPr anchor="ctr"/>
                </a:tc>
                <a:tc>
                  <a:txBody>
                    <a:bodyPr/>
                    <a:lstStyle/>
                    <a:p>
                      <a:pPr>
                        <a:buNone/>
                      </a:pPr>
                      <a:r>
                        <a:rPr lang="en-IN" dirty="0"/>
                        <a:t>2020</a:t>
                      </a:r>
                    </a:p>
                  </a:txBody>
                  <a:tcPr anchor="ctr"/>
                </a:tc>
                <a:tc>
                  <a:txBody>
                    <a:bodyPr/>
                    <a:lstStyle/>
                    <a:p>
                      <a:pPr>
                        <a:buNone/>
                      </a:pPr>
                      <a:r>
                        <a:rPr lang="en-US" dirty="0"/>
                        <a:t>Explores digital grievance portals but highlights poor user engagement and limited scalability. </a:t>
                      </a:r>
                      <a:r>
                        <a:rPr lang="en-US" b="1" dirty="0"/>
                        <a:t>Our project resolves this by integrating real-time database (Firebase) and modern UI.</a:t>
                      </a:r>
                      <a:endParaRPr lang="en-IN" dirty="0"/>
                    </a:p>
                  </a:txBody>
                  <a:tcPr anchor="ctr"/>
                </a:tc>
                <a:extLst>
                  <a:ext uri="{0D108BD9-81ED-4DB2-BD59-A6C34878D82A}">
                    <a16:rowId xmlns:a16="http://schemas.microsoft.com/office/drawing/2014/main" val="3114712700"/>
                  </a:ext>
                </a:extLst>
              </a:tr>
            </a:tbl>
          </a:graphicData>
        </a:graphic>
      </p:graphicFrame>
      <p:pic>
        <p:nvPicPr>
          <p:cNvPr id="8" name="Picture 7">
            <a:extLst>
              <a:ext uri="{FF2B5EF4-FFF2-40B4-BE49-F238E27FC236}">
                <a16:creationId xmlns:a16="http://schemas.microsoft.com/office/drawing/2014/main" id="{E8860C41-B7D5-3D88-761A-B571BDDF8F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51819" y="225772"/>
            <a:ext cx="8524568" cy="1187615"/>
          </a:xfrm>
          <a:prstGeom prst="rect">
            <a:avLst/>
          </a:prstGeom>
        </p:spPr>
      </p:pic>
    </p:spTree>
    <p:extLst>
      <p:ext uri="{BB962C8B-B14F-4D97-AF65-F5344CB8AC3E}">
        <p14:creationId xmlns:p14="http://schemas.microsoft.com/office/powerpoint/2010/main" val="3296135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0F63ECB8-D6F6-F68F-9E3B-380FFA71CAE1}"/>
              </a:ext>
            </a:extLst>
          </p:cNvPr>
          <p:cNvGraphicFramePr>
            <a:graphicFrameLocks noGrp="1"/>
          </p:cNvGraphicFramePr>
          <p:nvPr>
            <p:extLst>
              <p:ext uri="{D42A27DB-BD31-4B8C-83A1-F6EECF244321}">
                <p14:modId xmlns:p14="http://schemas.microsoft.com/office/powerpoint/2010/main" val="2493169732"/>
              </p:ext>
            </p:extLst>
          </p:nvPr>
        </p:nvGraphicFramePr>
        <p:xfrm>
          <a:off x="93405" y="409513"/>
          <a:ext cx="12005190" cy="5507961"/>
        </p:xfrm>
        <a:graphic>
          <a:graphicData uri="http://schemas.openxmlformats.org/drawingml/2006/table">
            <a:tbl>
              <a:tblPr firstRow="1" bandRow="1">
                <a:tableStyleId>{5C22544A-7EE6-4342-B048-85BDC9FD1C3A}</a:tableStyleId>
              </a:tblPr>
              <a:tblGrid>
                <a:gridCol w="2000865">
                  <a:extLst>
                    <a:ext uri="{9D8B030D-6E8A-4147-A177-3AD203B41FA5}">
                      <a16:colId xmlns:a16="http://schemas.microsoft.com/office/drawing/2014/main" val="1304506255"/>
                    </a:ext>
                  </a:extLst>
                </a:gridCol>
                <a:gridCol w="2000865">
                  <a:extLst>
                    <a:ext uri="{9D8B030D-6E8A-4147-A177-3AD203B41FA5}">
                      <a16:colId xmlns:a16="http://schemas.microsoft.com/office/drawing/2014/main" val="2213770292"/>
                    </a:ext>
                  </a:extLst>
                </a:gridCol>
                <a:gridCol w="2000865">
                  <a:extLst>
                    <a:ext uri="{9D8B030D-6E8A-4147-A177-3AD203B41FA5}">
                      <a16:colId xmlns:a16="http://schemas.microsoft.com/office/drawing/2014/main" val="1018609238"/>
                    </a:ext>
                  </a:extLst>
                </a:gridCol>
                <a:gridCol w="2000865">
                  <a:extLst>
                    <a:ext uri="{9D8B030D-6E8A-4147-A177-3AD203B41FA5}">
                      <a16:colId xmlns:a16="http://schemas.microsoft.com/office/drawing/2014/main" val="732562723"/>
                    </a:ext>
                  </a:extLst>
                </a:gridCol>
                <a:gridCol w="1395478">
                  <a:extLst>
                    <a:ext uri="{9D8B030D-6E8A-4147-A177-3AD203B41FA5}">
                      <a16:colId xmlns:a16="http://schemas.microsoft.com/office/drawing/2014/main" val="3793500883"/>
                    </a:ext>
                  </a:extLst>
                </a:gridCol>
                <a:gridCol w="2606252">
                  <a:extLst>
                    <a:ext uri="{9D8B030D-6E8A-4147-A177-3AD203B41FA5}">
                      <a16:colId xmlns:a16="http://schemas.microsoft.com/office/drawing/2014/main" val="2358691849"/>
                    </a:ext>
                  </a:extLst>
                </a:gridCol>
              </a:tblGrid>
              <a:tr h="570201">
                <a:tc>
                  <a:txBody>
                    <a:bodyPr/>
                    <a:lstStyle/>
                    <a:p>
                      <a:pPr>
                        <a:buNone/>
                      </a:pPr>
                      <a:r>
                        <a:rPr lang="en-IN"/>
                        <a:t>S.No</a:t>
                      </a:r>
                    </a:p>
                  </a:txBody>
                  <a:tcPr anchor="ctr"/>
                </a:tc>
                <a:tc>
                  <a:txBody>
                    <a:bodyPr/>
                    <a:lstStyle/>
                    <a:p>
                      <a:pPr>
                        <a:buNone/>
                      </a:pPr>
                      <a:r>
                        <a:rPr lang="en-IN"/>
                        <a:t>Title</a:t>
                      </a:r>
                    </a:p>
                  </a:txBody>
                  <a:tcPr anchor="ctr"/>
                </a:tc>
                <a:tc>
                  <a:txBody>
                    <a:bodyPr/>
                    <a:lstStyle/>
                    <a:p>
                      <a:pPr>
                        <a:buNone/>
                      </a:pPr>
                      <a:r>
                        <a:rPr lang="en-IN"/>
                        <a:t>Author(s)</a:t>
                      </a:r>
                    </a:p>
                  </a:txBody>
                  <a:tcPr anchor="ctr"/>
                </a:tc>
                <a:tc>
                  <a:txBody>
                    <a:bodyPr/>
                    <a:lstStyle/>
                    <a:p>
                      <a:pPr>
                        <a:buNone/>
                      </a:pPr>
                      <a:r>
                        <a:rPr lang="en-IN"/>
                        <a:t>Publisher/Journal</a:t>
                      </a:r>
                    </a:p>
                  </a:txBody>
                  <a:tcPr anchor="ctr"/>
                </a:tc>
                <a:tc>
                  <a:txBody>
                    <a:bodyPr/>
                    <a:lstStyle/>
                    <a:p>
                      <a:pPr>
                        <a:buNone/>
                      </a:pPr>
                      <a:r>
                        <a:rPr lang="en-IN"/>
                        <a:t>Year</a:t>
                      </a:r>
                    </a:p>
                  </a:txBody>
                  <a:tcPr anchor="ctr"/>
                </a:tc>
                <a:tc>
                  <a:txBody>
                    <a:bodyPr/>
                    <a:lstStyle/>
                    <a:p>
                      <a:pPr>
                        <a:buNone/>
                      </a:pPr>
                      <a:r>
                        <a:rPr lang="en-IN" dirty="0"/>
                        <a:t>Remarks</a:t>
                      </a:r>
                    </a:p>
                  </a:txBody>
                  <a:tcPr anchor="ctr"/>
                </a:tc>
                <a:extLst>
                  <a:ext uri="{0D108BD9-81ED-4DB2-BD59-A6C34878D82A}">
                    <a16:rowId xmlns:a16="http://schemas.microsoft.com/office/drawing/2014/main" val="2646796033"/>
                  </a:ext>
                </a:extLst>
              </a:tr>
              <a:tr h="732926">
                <a:tc>
                  <a:txBody>
                    <a:bodyPr/>
                    <a:lstStyle/>
                    <a:p>
                      <a:pPr>
                        <a:buNone/>
                      </a:pPr>
                      <a:r>
                        <a:rPr lang="en-IN"/>
                        <a:t>3</a:t>
                      </a:r>
                    </a:p>
                  </a:txBody>
                  <a:tcPr anchor="ctr"/>
                </a:tc>
                <a:tc>
                  <a:txBody>
                    <a:bodyPr/>
                    <a:lstStyle/>
                    <a:p>
                      <a:pPr>
                        <a:buNone/>
                      </a:pPr>
                      <a:r>
                        <a:rPr lang="en-IN"/>
                        <a:t>NLP Applications in Complaint Management</a:t>
                      </a:r>
                    </a:p>
                  </a:txBody>
                  <a:tcPr anchor="ctr"/>
                </a:tc>
                <a:tc>
                  <a:txBody>
                    <a:bodyPr/>
                    <a:lstStyle/>
                    <a:p>
                      <a:pPr>
                        <a:buNone/>
                      </a:pPr>
                      <a:r>
                        <a:rPr lang="en-IN"/>
                        <a:t>T. Gupta, M. Rao</a:t>
                      </a:r>
                    </a:p>
                  </a:txBody>
                  <a:tcPr anchor="ctr"/>
                </a:tc>
                <a:tc>
                  <a:txBody>
                    <a:bodyPr/>
                    <a:lstStyle/>
                    <a:p>
                      <a:pPr>
                        <a:buNone/>
                      </a:pPr>
                      <a:r>
                        <a:rPr lang="en-IN"/>
                        <a:t>ACM Transactions on Information Systems</a:t>
                      </a:r>
                    </a:p>
                  </a:txBody>
                  <a:tcPr anchor="ctr"/>
                </a:tc>
                <a:tc>
                  <a:txBody>
                    <a:bodyPr/>
                    <a:lstStyle/>
                    <a:p>
                      <a:pPr>
                        <a:buNone/>
                      </a:pPr>
                      <a:r>
                        <a:rPr lang="en-IN"/>
                        <a:t>2019</a:t>
                      </a:r>
                    </a:p>
                  </a:txBody>
                  <a:tcPr anchor="ctr"/>
                </a:tc>
                <a:tc>
                  <a:txBody>
                    <a:bodyPr/>
                    <a:lstStyle/>
                    <a:p>
                      <a:pPr>
                        <a:buNone/>
                      </a:pPr>
                      <a:r>
                        <a:rPr lang="en-US"/>
                        <a:t>Applies NLP to analyze complaint text but lacks prioritization of issues. Our model prioritizes queries by urgency.</a:t>
                      </a:r>
                    </a:p>
                  </a:txBody>
                  <a:tcPr anchor="ctr"/>
                </a:tc>
                <a:extLst>
                  <a:ext uri="{0D108BD9-81ED-4DB2-BD59-A6C34878D82A}">
                    <a16:rowId xmlns:a16="http://schemas.microsoft.com/office/drawing/2014/main" val="260870827"/>
                  </a:ext>
                </a:extLst>
              </a:tr>
              <a:tr h="732926">
                <a:tc>
                  <a:txBody>
                    <a:bodyPr/>
                    <a:lstStyle/>
                    <a:p>
                      <a:pPr>
                        <a:buNone/>
                      </a:pPr>
                      <a:r>
                        <a:rPr lang="en-IN"/>
                        <a:t>4</a:t>
                      </a:r>
                    </a:p>
                  </a:txBody>
                  <a:tcPr anchor="ctr"/>
                </a:tc>
                <a:tc>
                  <a:txBody>
                    <a:bodyPr/>
                    <a:lstStyle/>
                    <a:p>
                      <a:pPr>
                        <a:buNone/>
                      </a:pPr>
                      <a:r>
                        <a:rPr lang="en-US"/>
                        <a:t>Cloud-Based Complaint Portals for Universities</a:t>
                      </a:r>
                    </a:p>
                  </a:txBody>
                  <a:tcPr anchor="ctr"/>
                </a:tc>
                <a:tc>
                  <a:txBody>
                    <a:bodyPr/>
                    <a:lstStyle/>
                    <a:p>
                      <a:pPr>
                        <a:buNone/>
                      </a:pPr>
                      <a:r>
                        <a:rPr lang="en-IN"/>
                        <a:t>A. Iqbal, K. Thomas</a:t>
                      </a:r>
                    </a:p>
                  </a:txBody>
                  <a:tcPr anchor="ctr"/>
                </a:tc>
                <a:tc>
                  <a:txBody>
                    <a:bodyPr/>
                    <a:lstStyle/>
                    <a:p>
                      <a:pPr>
                        <a:buNone/>
                      </a:pPr>
                      <a:r>
                        <a:rPr lang="en-US"/>
                        <a:t>Elsevier Journal of Cloud Computing</a:t>
                      </a:r>
                    </a:p>
                  </a:txBody>
                  <a:tcPr anchor="ctr"/>
                </a:tc>
                <a:tc>
                  <a:txBody>
                    <a:bodyPr/>
                    <a:lstStyle/>
                    <a:p>
                      <a:pPr>
                        <a:buNone/>
                      </a:pPr>
                      <a:r>
                        <a:rPr lang="en-IN"/>
                        <a:t>2022</a:t>
                      </a:r>
                    </a:p>
                  </a:txBody>
                  <a:tcPr anchor="ctr"/>
                </a:tc>
                <a:tc>
                  <a:txBody>
                    <a:bodyPr/>
                    <a:lstStyle/>
                    <a:p>
                      <a:pPr>
                        <a:buNone/>
                      </a:pPr>
                      <a:r>
                        <a:rPr lang="en-US"/>
                        <a:t>Discusses cloud integration but notes high maintenance costs. Our approach ensures cost-effectiveness with Firebase.</a:t>
                      </a:r>
                    </a:p>
                  </a:txBody>
                  <a:tcPr anchor="ctr"/>
                </a:tc>
                <a:extLst>
                  <a:ext uri="{0D108BD9-81ED-4DB2-BD59-A6C34878D82A}">
                    <a16:rowId xmlns:a16="http://schemas.microsoft.com/office/drawing/2014/main" val="1511881254"/>
                  </a:ext>
                </a:extLst>
              </a:tr>
              <a:tr h="732926">
                <a:tc>
                  <a:txBody>
                    <a:bodyPr/>
                    <a:lstStyle/>
                    <a:p>
                      <a:pPr>
                        <a:buNone/>
                      </a:pPr>
                      <a:r>
                        <a:rPr lang="en-IN"/>
                        <a:t>5</a:t>
                      </a:r>
                    </a:p>
                  </a:txBody>
                  <a:tcPr anchor="ctr"/>
                </a:tc>
                <a:tc>
                  <a:txBody>
                    <a:bodyPr/>
                    <a:lstStyle/>
                    <a:p>
                      <a:pPr>
                        <a:buNone/>
                      </a:pPr>
                      <a:r>
                        <a:rPr lang="en-US"/>
                        <a:t>Data Analytics for Public Feedback Systems</a:t>
                      </a:r>
                    </a:p>
                  </a:txBody>
                  <a:tcPr anchor="ctr"/>
                </a:tc>
                <a:tc>
                  <a:txBody>
                    <a:bodyPr/>
                    <a:lstStyle/>
                    <a:p>
                      <a:pPr>
                        <a:buNone/>
                      </a:pPr>
                      <a:r>
                        <a:rPr lang="en-IN"/>
                        <a:t>J. Singh, R. Patel</a:t>
                      </a:r>
                    </a:p>
                  </a:txBody>
                  <a:tcPr anchor="ctr"/>
                </a:tc>
                <a:tc>
                  <a:txBody>
                    <a:bodyPr/>
                    <a:lstStyle/>
                    <a:p>
                      <a:pPr>
                        <a:buNone/>
                      </a:pPr>
                      <a:r>
                        <a:rPr lang="en-IN"/>
                        <a:t>IEEE Big Data Conference</a:t>
                      </a:r>
                    </a:p>
                  </a:txBody>
                  <a:tcPr anchor="ctr"/>
                </a:tc>
                <a:tc>
                  <a:txBody>
                    <a:bodyPr/>
                    <a:lstStyle/>
                    <a:p>
                      <a:pPr>
                        <a:buNone/>
                      </a:pPr>
                      <a:r>
                        <a:rPr lang="en-IN"/>
                        <a:t>2018</a:t>
                      </a:r>
                    </a:p>
                  </a:txBody>
                  <a:tcPr anchor="ctr"/>
                </a:tc>
                <a:tc>
                  <a:txBody>
                    <a:bodyPr/>
                    <a:lstStyle/>
                    <a:p>
                      <a:pPr>
                        <a:buNone/>
                      </a:pPr>
                      <a:r>
                        <a:rPr lang="en-US" dirty="0"/>
                        <a:t>Uses analytics to detect trends but does not provide instant responses. Our chatbot handles real-time responses.</a:t>
                      </a:r>
                    </a:p>
                  </a:txBody>
                  <a:tcPr anchor="ctr"/>
                </a:tc>
                <a:extLst>
                  <a:ext uri="{0D108BD9-81ED-4DB2-BD59-A6C34878D82A}">
                    <a16:rowId xmlns:a16="http://schemas.microsoft.com/office/drawing/2014/main" val="978565633"/>
                  </a:ext>
                </a:extLst>
              </a:tr>
            </a:tbl>
          </a:graphicData>
        </a:graphic>
      </p:graphicFrame>
    </p:spTree>
    <p:extLst>
      <p:ext uri="{BB962C8B-B14F-4D97-AF65-F5344CB8AC3E}">
        <p14:creationId xmlns:p14="http://schemas.microsoft.com/office/powerpoint/2010/main" val="4121782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0E67C-9F09-251B-68C7-C22687A1510F}"/>
            </a:ext>
          </a:extLst>
        </p:cNvPr>
        <p:cNvGrpSpPr/>
        <p:nvPr/>
      </p:nvGrpSpPr>
      <p:grpSpPr>
        <a:xfrm>
          <a:off x="0" y="0"/>
          <a:ext cx="0" cy="0"/>
          <a:chOff x="0" y="0"/>
          <a:chExt cx="0" cy="0"/>
        </a:xfrm>
      </p:grpSpPr>
      <p:graphicFrame>
        <p:nvGraphicFramePr>
          <p:cNvPr id="8" name="Table 7">
            <a:extLst>
              <a:ext uri="{FF2B5EF4-FFF2-40B4-BE49-F238E27FC236}">
                <a16:creationId xmlns:a16="http://schemas.microsoft.com/office/drawing/2014/main" id="{A439B6C1-3973-981A-5505-9F465AE15DBF}"/>
              </a:ext>
            </a:extLst>
          </p:cNvPr>
          <p:cNvGraphicFramePr>
            <a:graphicFrameLocks noGrp="1"/>
          </p:cNvGraphicFramePr>
          <p:nvPr>
            <p:extLst>
              <p:ext uri="{D42A27DB-BD31-4B8C-83A1-F6EECF244321}">
                <p14:modId xmlns:p14="http://schemas.microsoft.com/office/powerpoint/2010/main" val="282927743"/>
              </p:ext>
            </p:extLst>
          </p:nvPr>
        </p:nvGraphicFramePr>
        <p:xfrm>
          <a:off x="93405" y="409513"/>
          <a:ext cx="12005190" cy="5782281"/>
        </p:xfrm>
        <a:graphic>
          <a:graphicData uri="http://schemas.openxmlformats.org/drawingml/2006/table">
            <a:tbl>
              <a:tblPr firstRow="1" bandRow="1">
                <a:tableStyleId>{5C22544A-7EE6-4342-B048-85BDC9FD1C3A}</a:tableStyleId>
              </a:tblPr>
              <a:tblGrid>
                <a:gridCol w="2000865">
                  <a:extLst>
                    <a:ext uri="{9D8B030D-6E8A-4147-A177-3AD203B41FA5}">
                      <a16:colId xmlns:a16="http://schemas.microsoft.com/office/drawing/2014/main" val="1304506255"/>
                    </a:ext>
                  </a:extLst>
                </a:gridCol>
                <a:gridCol w="2000865">
                  <a:extLst>
                    <a:ext uri="{9D8B030D-6E8A-4147-A177-3AD203B41FA5}">
                      <a16:colId xmlns:a16="http://schemas.microsoft.com/office/drawing/2014/main" val="2213770292"/>
                    </a:ext>
                  </a:extLst>
                </a:gridCol>
                <a:gridCol w="2000865">
                  <a:extLst>
                    <a:ext uri="{9D8B030D-6E8A-4147-A177-3AD203B41FA5}">
                      <a16:colId xmlns:a16="http://schemas.microsoft.com/office/drawing/2014/main" val="1018609238"/>
                    </a:ext>
                  </a:extLst>
                </a:gridCol>
                <a:gridCol w="2000865">
                  <a:extLst>
                    <a:ext uri="{9D8B030D-6E8A-4147-A177-3AD203B41FA5}">
                      <a16:colId xmlns:a16="http://schemas.microsoft.com/office/drawing/2014/main" val="732562723"/>
                    </a:ext>
                  </a:extLst>
                </a:gridCol>
                <a:gridCol w="1123335">
                  <a:extLst>
                    <a:ext uri="{9D8B030D-6E8A-4147-A177-3AD203B41FA5}">
                      <a16:colId xmlns:a16="http://schemas.microsoft.com/office/drawing/2014/main" val="3793500883"/>
                    </a:ext>
                  </a:extLst>
                </a:gridCol>
                <a:gridCol w="2878395">
                  <a:extLst>
                    <a:ext uri="{9D8B030D-6E8A-4147-A177-3AD203B41FA5}">
                      <a16:colId xmlns:a16="http://schemas.microsoft.com/office/drawing/2014/main" val="2358691849"/>
                    </a:ext>
                  </a:extLst>
                </a:gridCol>
              </a:tblGrid>
              <a:tr h="570201">
                <a:tc>
                  <a:txBody>
                    <a:bodyPr/>
                    <a:lstStyle/>
                    <a:p>
                      <a:pPr>
                        <a:buNone/>
                      </a:pPr>
                      <a:r>
                        <a:rPr lang="en-IN"/>
                        <a:t>S.No</a:t>
                      </a:r>
                    </a:p>
                  </a:txBody>
                  <a:tcPr anchor="ctr"/>
                </a:tc>
                <a:tc>
                  <a:txBody>
                    <a:bodyPr/>
                    <a:lstStyle/>
                    <a:p>
                      <a:pPr>
                        <a:buNone/>
                      </a:pPr>
                      <a:r>
                        <a:rPr lang="en-IN"/>
                        <a:t>Title</a:t>
                      </a:r>
                    </a:p>
                  </a:txBody>
                  <a:tcPr anchor="ctr"/>
                </a:tc>
                <a:tc>
                  <a:txBody>
                    <a:bodyPr/>
                    <a:lstStyle/>
                    <a:p>
                      <a:pPr>
                        <a:buNone/>
                      </a:pPr>
                      <a:r>
                        <a:rPr lang="en-IN"/>
                        <a:t>Author(s)</a:t>
                      </a:r>
                    </a:p>
                  </a:txBody>
                  <a:tcPr anchor="ctr"/>
                </a:tc>
                <a:tc>
                  <a:txBody>
                    <a:bodyPr/>
                    <a:lstStyle/>
                    <a:p>
                      <a:pPr>
                        <a:buNone/>
                      </a:pPr>
                      <a:r>
                        <a:rPr lang="en-IN"/>
                        <a:t>Publisher/Journal</a:t>
                      </a:r>
                    </a:p>
                  </a:txBody>
                  <a:tcPr anchor="ctr"/>
                </a:tc>
                <a:tc>
                  <a:txBody>
                    <a:bodyPr/>
                    <a:lstStyle/>
                    <a:p>
                      <a:pPr>
                        <a:buNone/>
                      </a:pPr>
                      <a:r>
                        <a:rPr lang="en-IN"/>
                        <a:t>Year</a:t>
                      </a:r>
                    </a:p>
                  </a:txBody>
                  <a:tcPr anchor="ctr"/>
                </a:tc>
                <a:tc>
                  <a:txBody>
                    <a:bodyPr/>
                    <a:lstStyle/>
                    <a:p>
                      <a:pPr>
                        <a:buNone/>
                      </a:pPr>
                      <a:r>
                        <a:rPr lang="en-IN"/>
                        <a:t>Remarks</a:t>
                      </a:r>
                    </a:p>
                  </a:txBody>
                  <a:tcPr anchor="ctr"/>
                </a:tc>
                <a:extLst>
                  <a:ext uri="{0D108BD9-81ED-4DB2-BD59-A6C34878D82A}">
                    <a16:rowId xmlns:a16="http://schemas.microsoft.com/office/drawing/2014/main" val="2646796033"/>
                  </a:ext>
                </a:extLst>
              </a:tr>
              <a:tr h="732926">
                <a:tc>
                  <a:txBody>
                    <a:bodyPr/>
                    <a:lstStyle/>
                    <a:p>
                      <a:pPr>
                        <a:buNone/>
                      </a:pPr>
                      <a:r>
                        <a:rPr lang="en-IN"/>
                        <a:t>6</a:t>
                      </a:r>
                    </a:p>
                  </a:txBody>
                  <a:tcPr anchor="ctr"/>
                </a:tc>
                <a:tc>
                  <a:txBody>
                    <a:bodyPr/>
                    <a:lstStyle/>
                    <a:p>
                      <a:pPr>
                        <a:buNone/>
                      </a:pPr>
                      <a:r>
                        <a:rPr lang="en-US"/>
                        <a:t>Machine Learning for Automated Query Resolution</a:t>
                      </a:r>
                    </a:p>
                  </a:txBody>
                  <a:tcPr anchor="ctr"/>
                </a:tc>
                <a:tc>
                  <a:txBody>
                    <a:bodyPr/>
                    <a:lstStyle/>
                    <a:p>
                      <a:pPr>
                        <a:buNone/>
                      </a:pPr>
                      <a:r>
                        <a:rPr lang="en-IN"/>
                        <a:t>N. Kumar, S. Banerjee</a:t>
                      </a:r>
                    </a:p>
                  </a:txBody>
                  <a:tcPr anchor="ctr"/>
                </a:tc>
                <a:tc>
                  <a:txBody>
                    <a:bodyPr/>
                    <a:lstStyle/>
                    <a:p>
                      <a:pPr>
                        <a:buNone/>
                      </a:pPr>
                      <a:r>
                        <a:rPr lang="en-IN"/>
                        <a:t>Wiley Expert Systems</a:t>
                      </a:r>
                    </a:p>
                  </a:txBody>
                  <a:tcPr anchor="ctr"/>
                </a:tc>
                <a:tc>
                  <a:txBody>
                    <a:bodyPr/>
                    <a:lstStyle/>
                    <a:p>
                      <a:pPr>
                        <a:buNone/>
                      </a:pPr>
                      <a:r>
                        <a:rPr lang="en-IN"/>
                        <a:t>2021</a:t>
                      </a:r>
                    </a:p>
                  </a:txBody>
                  <a:tcPr anchor="ctr"/>
                </a:tc>
                <a:tc>
                  <a:txBody>
                    <a:bodyPr/>
                    <a:lstStyle/>
                    <a:p>
                      <a:pPr>
                        <a:buNone/>
                      </a:pPr>
                      <a:r>
                        <a:rPr lang="en-US"/>
                        <a:t>Implements ML in query resolution but fails in multi-domain classification. Our model categorizes into academic, technical, and maintenance queries.</a:t>
                      </a:r>
                    </a:p>
                  </a:txBody>
                  <a:tcPr anchor="ctr"/>
                </a:tc>
                <a:extLst>
                  <a:ext uri="{0D108BD9-81ED-4DB2-BD59-A6C34878D82A}">
                    <a16:rowId xmlns:a16="http://schemas.microsoft.com/office/drawing/2014/main" val="260870827"/>
                  </a:ext>
                </a:extLst>
              </a:tr>
              <a:tr h="732926">
                <a:tc>
                  <a:txBody>
                    <a:bodyPr/>
                    <a:lstStyle/>
                    <a:p>
                      <a:pPr>
                        <a:buNone/>
                      </a:pPr>
                      <a:r>
                        <a:rPr lang="en-IN"/>
                        <a:t>7</a:t>
                      </a:r>
                    </a:p>
                  </a:txBody>
                  <a:tcPr anchor="ctr"/>
                </a:tc>
                <a:tc>
                  <a:txBody>
                    <a:bodyPr/>
                    <a:lstStyle/>
                    <a:p>
                      <a:pPr>
                        <a:buNone/>
                      </a:pPr>
                      <a:r>
                        <a:rPr lang="en-US"/>
                        <a:t>Enhancing University Portals with AI Chatbots</a:t>
                      </a:r>
                    </a:p>
                  </a:txBody>
                  <a:tcPr anchor="ctr"/>
                </a:tc>
                <a:tc>
                  <a:txBody>
                    <a:bodyPr/>
                    <a:lstStyle/>
                    <a:p>
                      <a:pPr>
                        <a:buNone/>
                      </a:pPr>
                      <a:r>
                        <a:rPr lang="en-IN"/>
                        <a:t>L. Fernandez, P. Wong</a:t>
                      </a:r>
                    </a:p>
                  </a:txBody>
                  <a:tcPr anchor="ctr"/>
                </a:tc>
                <a:tc>
                  <a:txBody>
                    <a:bodyPr/>
                    <a:lstStyle/>
                    <a:p>
                      <a:pPr>
                        <a:buNone/>
                      </a:pPr>
                      <a:r>
                        <a:rPr lang="en-IN"/>
                        <a:t>Springer Education Technology</a:t>
                      </a:r>
                    </a:p>
                  </a:txBody>
                  <a:tcPr anchor="ctr"/>
                </a:tc>
                <a:tc>
                  <a:txBody>
                    <a:bodyPr/>
                    <a:lstStyle/>
                    <a:p>
                      <a:pPr>
                        <a:buNone/>
                      </a:pPr>
                      <a:r>
                        <a:rPr lang="en-IN"/>
                        <a:t>2020</a:t>
                      </a:r>
                    </a:p>
                  </a:txBody>
                  <a:tcPr anchor="ctr"/>
                </a:tc>
                <a:tc>
                  <a:txBody>
                    <a:bodyPr/>
                    <a:lstStyle/>
                    <a:p>
                      <a:pPr>
                        <a:buNone/>
                      </a:pPr>
                      <a:r>
                        <a:rPr lang="en-US"/>
                        <a:t>Focuses on chatbots for FAQs only, lacking deep integration with databases. Our chatbot integrates real-time data for personalized query resolution.</a:t>
                      </a:r>
                    </a:p>
                  </a:txBody>
                  <a:tcPr anchor="ctr"/>
                </a:tc>
                <a:extLst>
                  <a:ext uri="{0D108BD9-81ED-4DB2-BD59-A6C34878D82A}">
                    <a16:rowId xmlns:a16="http://schemas.microsoft.com/office/drawing/2014/main" val="1511881254"/>
                  </a:ext>
                </a:extLst>
              </a:tr>
              <a:tr h="732926">
                <a:tc>
                  <a:txBody>
                    <a:bodyPr/>
                    <a:lstStyle/>
                    <a:p>
                      <a:pPr>
                        <a:buNone/>
                      </a:pPr>
                      <a:r>
                        <a:rPr lang="en-IN"/>
                        <a:t>8</a:t>
                      </a:r>
                    </a:p>
                  </a:txBody>
                  <a:tcPr anchor="ctr"/>
                </a:tc>
                <a:tc>
                  <a:txBody>
                    <a:bodyPr/>
                    <a:lstStyle/>
                    <a:p>
                      <a:pPr>
                        <a:buNone/>
                      </a:pPr>
                      <a:r>
                        <a:rPr lang="en-US"/>
                        <a:t>Real-Time Feedback and Grievance Redressal Systems</a:t>
                      </a:r>
                    </a:p>
                  </a:txBody>
                  <a:tcPr anchor="ctr"/>
                </a:tc>
                <a:tc>
                  <a:txBody>
                    <a:bodyPr/>
                    <a:lstStyle/>
                    <a:p>
                      <a:pPr>
                        <a:buNone/>
                      </a:pPr>
                      <a:r>
                        <a:rPr lang="en-IN"/>
                        <a:t>R. Mehta, S. Kulkarni</a:t>
                      </a:r>
                    </a:p>
                  </a:txBody>
                  <a:tcPr anchor="ctr"/>
                </a:tc>
                <a:tc>
                  <a:txBody>
                    <a:bodyPr/>
                    <a:lstStyle/>
                    <a:p>
                      <a:pPr>
                        <a:buNone/>
                      </a:pPr>
                      <a:r>
                        <a:rPr lang="en-IN"/>
                        <a:t>IEEE Transactions on Services</a:t>
                      </a:r>
                    </a:p>
                  </a:txBody>
                  <a:tcPr anchor="ctr"/>
                </a:tc>
                <a:tc>
                  <a:txBody>
                    <a:bodyPr/>
                    <a:lstStyle/>
                    <a:p>
                      <a:pPr>
                        <a:buNone/>
                      </a:pPr>
                      <a:r>
                        <a:rPr lang="en-IN"/>
                        <a:t>2019</a:t>
                      </a:r>
                    </a:p>
                  </a:txBody>
                  <a:tcPr anchor="ctr"/>
                </a:tc>
                <a:tc>
                  <a:txBody>
                    <a:bodyPr/>
                    <a:lstStyle/>
                    <a:p>
                      <a:pPr>
                        <a:buNone/>
                      </a:pPr>
                      <a:r>
                        <a:rPr lang="en-US" dirty="0"/>
                        <a:t>Provides feedback analysis but does not offer query prioritization. Our system prioritizes complaints by urgency and category for efficient redressal.</a:t>
                      </a:r>
                    </a:p>
                  </a:txBody>
                  <a:tcPr anchor="ctr"/>
                </a:tc>
                <a:extLst>
                  <a:ext uri="{0D108BD9-81ED-4DB2-BD59-A6C34878D82A}">
                    <a16:rowId xmlns:a16="http://schemas.microsoft.com/office/drawing/2014/main" val="978565633"/>
                  </a:ext>
                </a:extLst>
              </a:tr>
            </a:tbl>
          </a:graphicData>
        </a:graphic>
      </p:graphicFrame>
    </p:spTree>
    <p:extLst>
      <p:ext uri="{BB962C8B-B14F-4D97-AF65-F5344CB8AC3E}">
        <p14:creationId xmlns:p14="http://schemas.microsoft.com/office/powerpoint/2010/main" val="18579500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4B6D9B14-06C0-1BD2-0949-971D480A14F6}"/>
              </a:ext>
            </a:extLst>
          </p:cNvPr>
          <p:cNvGraphicFramePr>
            <a:graphicFrameLocks noGrp="1"/>
          </p:cNvGraphicFramePr>
          <p:nvPr>
            <p:extLst>
              <p:ext uri="{D42A27DB-BD31-4B8C-83A1-F6EECF244321}">
                <p14:modId xmlns:p14="http://schemas.microsoft.com/office/powerpoint/2010/main" val="2702175591"/>
              </p:ext>
            </p:extLst>
          </p:nvPr>
        </p:nvGraphicFramePr>
        <p:xfrm>
          <a:off x="270387" y="1014806"/>
          <a:ext cx="11651226" cy="4828388"/>
        </p:xfrm>
        <a:graphic>
          <a:graphicData uri="http://schemas.openxmlformats.org/drawingml/2006/table">
            <a:tbl>
              <a:tblPr firstRow="1" bandRow="1">
                <a:tableStyleId>{5C22544A-7EE6-4342-B048-85BDC9FD1C3A}</a:tableStyleId>
              </a:tblPr>
              <a:tblGrid>
                <a:gridCol w="1941871">
                  <a:extLst>
                    <a:ext uri="{9D8B030D-6E8A-4147-A177-3AD203B41FA5}">
                      <a16:colId xmlns:a16="http://schemas.microsoft.com/office/drawing/2014/main" val="3302442668"/>
                    </a:ext>
                  </a:extLst>
                </a:gridCol>
                <a:gridCol w="1941871">
                  <a:extLst>
                    <a:ext uri="{9D8B030D-6E8A-4147-A177-3AD203B41FA5}">
                      <a16:colId xmlns:a16="http://schemas.microsoft.com/office/drawing/2014/main" val="3615426282"/>
                    </a:ext>
                  </a:extLst>
                </a:gridCol>
                <a:gridCol w="1941871">
                  <a:extLst>
                    <a:ext uri="{9D8B030D-6E8A-4147-A177-3AD203B41FA5}">
                      <a16:colId xmlns:a16="http://schemas.microsoft.com/office/drawing/2014/main" val="3368704427"/>
                    </a:ext>
                  </a:extLst>
                </a:gridCol>
                <a:gridCol w="1941871">
                  <a:extLst>
                    <a:ext uri="{9D8B030D-6E8A-4147-A177-3AD203B41FA5}">
                      <a16:colId xmlns:a16="http://schemas.microsoft.com/office/drawing/2014/main" val="3960953868"/>
                    </a:ext>
                  </a:extLst>
                </a:gridCol>
                <a:gridCol w="1328760">
                  <a:extLst>
                    <a:ext uri="{9D8B030D-6E8A-4147-A177-3AD203B41FA5}">
                      <a16:colId xmlns:a16="http://schemas.microsoft.com/office/drawing/2014/main" val="3662286979"/>
                    </a:ext>
                  </a:extLst>
                </a:gridCol>
                <a:gridCol w="2554982">
                  <a:extLst>
                    <a:ext uri="{9D8B030D-6E8A-4147-A177-3AD203B41FA5}">
                      <a16:colId xmlns:a16="http://schemas.microsoft.com/office/drawing/2014/main" val="3476018961"/>
                    </a:ext>
                  </a:extLst>
                </a:gridCol>
              </a:tblGrid>
              <a:tr h="650334">
                <a:tc>
                  <a:txBody>
                    <a:bodyPr/>
                    <a:lstStyle/>
                    <a:p>
                      <a:pPr>
                        <a:buNone/>
                      </a:pPr>
                      <a:r>
                        <a:rPr lang="en-IN"/>
                        <a:t>S.No</a:t>
                      </a:r>
                    </a:p>
                  </a:txBody>
                  <a:tcPr anchor="ctr"/>
                </a:tc>
                <a:tc>
                  <a:txBody>
                    <a:bodyPr/>
                    <a:lstStyle/>
                    <a:p>
                      <a:pPr>
                        <a:buNone/>
                      </a:pPr>
                      <a:r>
                        <a:rPr lang="en-IN"/>
                        <a:t>Title</a:t>
                      </a:r>
                    </a:p>
                  </a:txBody>
                  <a:tcPr anchor="ctr"/>
                </a:tc>
                <a:tc>
                  <a:txBody>
                    <a:bodyPr/>
                    <a:lstStyle/>
                    <a:p>
                      <a:pPr>
                        <a:buNone/>
                      </a:pPr>
                      <a:r>
                        <a:rPr lang="en-IN"/>
                        <a:t>Author(s)</a:t>
                      </a:r>
                    </a:p>
                  </a:txBody>
                  <a:tcPr anchor="ctr"/>
                </a:tc>
                <a:tc>
                  <a:txBody>
                    <a:bodyPr/>
                    <a:lstStyle/>
                    <a:p>
                      <a:pPr>
                        <a:buNone/>
                      </a:pPr>
                      <a:r>
                        <a:rPr lang="en-IN"/>
                        <a:t>Publisher/Journal</a:t>
                      </a:r>
                    </a:p>
                  </a:txBody>
                  <a:tcPr anchor="ctr"/>
                </a:tc>
                <a:tc>
                  <a:txBody>
                    <a:bodyPr/>
                    <a:lstStyle/>
                    <a:p>
                      <a:pPr>
                        <a:buNone/>
                      </a:pPr>
                      <a:r>
                        <a:rPr lang="en-IN"/>
                        <a:t>Year</a:t>
                      </a:r>
                    </a:p>
                  </a:txBody>
                  <a:tcPr anchor="ctr"/>
                </a:tc>
                <a:tc>
                  <a:txBody>
                    <a:bodyPr/>
                    <a:lstStyle/>
                    <a:p>
                      <a:pPr>
                        <a:buNone/>
                      </a:pPr>
                      <a:r>
                        <a:rPr lang="en-IN"/>
                        <a:t>Remarks</a:t>
                      </a:r>
                    </a:p>
                  </a:txBody>
                  <a:tcPr anchor="ctr"/>
                </a:tc>
                <a:extLst>
                  <a:ext uri="{0D108BD9-81ED-4DB2-BD59-A6C34878D82A}">
                    <a16:rowId xmlns:a16="http://schemas.microsoft.com/office/drawing/2014/main" val="328820193"/>
                  </a:ext>
                </a:extLst>
              </a:tr>
              <a:tr h="1906410">
                <a:tc>
                  <a:txBody>
                    <a:bodyPr/>
                    <a:lstStyle/>
                    <a:p>
                      <a:pPr>
                        <a:buNone/>
                      </a:pPr>
                      <a:r>
                        <a:rPr lang="en-IN"/>
                        <a:t>9</a:t>
                      </a:r>
                    </a:p>
                  </a:txBody>
                  <a:tcPr anchor="ctr"/>
                </a:tc>
                <a:tc>
                  <a:txBody>
                    <a:bodyPr/>
                    <a:lstStyle/>
                    <a:p>
                      <a:pPr>
                        <a:buNone/>
                      </a:pPr>
                      <a:r>
                        <a:rPr lang="en-US"/>
                        <a:t>Scalable Cloud Architectures for Student Complaint Data</a:t>
                      </a:r>
                    </a:p>
                  </a:txBody>
                  <a:tcPr anchor="ctr"/>
                </a:tc>
                <a:tc>
                  <a:txBody>
                    <a:bodyPr/>
                    <a:lstStyle/>
                    <a:p>
                      <a:pPr>
                        <a:buNone/>
                      </a:pPr>
                      <a:r>
                        <a:rPr lang="en-IN"/>
                        <a:t>H. Zhang, Y. Lee</a:t>
                      </a:r>
                    </a:p>
                  </a:txBody>
                  <a:tcPr anchor="ctr"/>
                </a:tc>
                <a:tc>
                  <a:txBody>
                    <a:bodyPr/>
                    <a:lstStyle/>
                    <a:p>
                      <a:pPr>
                        <a:buNone/>
                      </a:pPr>
                      <a:r>
                        <a:rPr lang="en-US" dirty="0"/>
                        <a:t>Elsevier Journal of Cloud Systems</a:t>
                      </a:r>
                    </a:p>
                  </a:txBody>
                  <a:tcPr anchor="ctr"/>
                </a:tc>
                <a:tc>
                  <a:txBody>
                    <a:bodyPr/>
                    <a:lstStyle/>
                    <a:p>
                      <a:pPr>
                        <a:buNone/>
                      </a:pPr>
                      <a:r>
                        <a:rPr lang="en-IN"/>
                        <a:t>2021</a:t>
                      </a:r>
                    </a:p>
                  </a:txBody>
                  <a:tcPr anchor="ctr"/>
                </a:tc>
                <a:tc>
                  <a:txBody>
                    <a:bodyPr/>
                    <a:lstStyle/>
                    <a:p>
                      <a:pPr>
                        <a:buNone/>
                      </a:pPr>
                      <a:r>
                        <a:rPr lang="en-US"/>
                        <a:t>Focuses on scalability but lacks security considerations. Our project incorporates JWT authentication and role-based access for better security.</a:t>
                      </a:r>
                    </a:p>
                  </a:txBody>
                  <a:tcPr anchor="ctr"/>
                </a:tc>
                <a:extLst>
                  <a:ext uri="{0D108BD9-81ED-4DB2-BD59-A6C34878D82A}">
                    <a16:rowId xmlns:a16="http://schemas.microsoft.com/office/drawing/2014/main" val="4200219560"/>
                  </a:ext>
                </a:extLst>
              </a:tr>
              <a:tr h="2166374">
                <a:tc>
                  <a:txBody>
                    <a:bodyPr/>
                    <a:lstStyle/>
                    <a:p>
                      <a:pPr>
                        <a:buNone/>
                      </a:pPr>
                      <a:r>
                        <a:rPr lang="en-IN"/>
                        <a:t>10</a:t>
                      </a:r>
                    </a:p>
                  </a:txBody>
                  <a:tcPr anchor="ctr"/>
                </a:tc>
                <a:tc>
                  <a:txBody>
                    <a:bodyPr/>
                    <a:lstStyle/>
                    <a:p>
                      <a:pPr>
                        <a:buNone/>
                      </a:pPr>
                      <a:r>
                        <a:rPr lang="en-US"/>
                        <a:t>Automated Support Systems using Hybrid AI Models</a:t>
                      </a:r>
                    </a:p>
                  </a:txBody>
                  <a:tcPr anchor="ctr"/>
                </a:tc>
                <a:tc>
                  <a:txBody>
                    <a:bodyPr/>
                    <a:lstStyle/>
                    <a:p>
                      <a:pPr>
                        <a:buNone/>
                      </a:pPr>
                      <a:r>
                        <a:rPr lang="en-IN"/>
                        <a:t>P. Das, G. Nair</a:t>
                      </a:r>
                    </a:p>
                  </a:txBody>
                  <a:tcPr anchor="ctr"/>
                </a:tc>
                <a:tc>
                  <a:txBody>
                    <a:bodyPr/>
                    <a:lstStyle/>
                    <a:p>
                      <a:pPr>
                        <a:buNone/>
                      </a:pPr>
                      <a:r>
                        <a:rPr lang="en-IN"/>
                        <a:t>ACM Computing Surveys</a:t>
                      </a:r>
                    </a:p>
                  </a:txBody>
                  <a:tcPr anchor="ctr"/>
                </a:tc>
                <a:tc>
                  <a:txBody>
                    <a:bodyPr/>
                    <a:lstStyle/>
                    <a:p>
                      <a:pPr>
                        <a:buNone/>
                      </a:pPr>
                      <a:r>
                        <a:rPr lang="en-IN"/>
                        <a:t>2023</a:t>
                      </a:r>
                    </a:p>
                  </a:txBody>
                  <a:tcPr anchor="ctr"/>
                </a:tc>
                <a:tc>
                  <a:txBody>
                    <a:bodyPr/>
                    <a:lstStyle/>
                    <a:p>
                      <a:pPr>
                        <a:buNone/>
                      </a:pPr>
                      <a:r>
                        <a:rPr lang="en-US" dirty="0"/>
                        <a:t>Proposes hybrid AI but with limited real-world validation. Our system is implemented and validated in a real university complaint environment.</a:t>
                      </a:r>
                    </a:p>
                  </a:txBody>
                  <a:tcPr anchor="ctr"/>
                </a:tc>
                <a:extLst>
                  <a:ext uri="{0D108BD9-81ED-4DB2-BD59-A6C34878D82A}">
                    <a16:rowId xmlns:a16="http://schemas.microsoft.com/office/drawing/2014/main" val="3899001618"/>
                  </a:ext>
                </a:extLst>
              </a:tr>
            </a:tbl>
          </a:graphicData>
        </a:graphic>
      </p:graphicFrame>
    </p:spTree>
    <p:extLst>
      <p:ext uri="{BB962C8B-B14F-4D97-AF65-F5344CB8AC3E}">
        <p14:creationId xmlns:p14="http://schemas.microsoft.com/office/powerpoint/2010/main" val="3529210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206B4-7245-D671-FD16-E09DFFF34BCB}"/>
              </a:ext>
            </a:extLst>
          </p:cNvPr>
          <p:cNvSpPr>
            <a:spLocks noGrp="1"/>
          </p:cNvSpPr>
          <p:nvPr>
            <p:ph type="title"/>
          </p:nvPr>
        </p:nvSpPr>
        <p:spPr>
          <a:xfrm>
            <a:off x="3366670" y="1323329"/>
            <a:ext cx="5458659" cy="1424346"/>
          </a:xfrm>
        </p:spPr>
        <p:txBody>
          <a:bodyPr>
            <a:normAutofit/>
          </a:bodyPr>
          <a:lstStyle/>
          <a:p>
            <a:r>
              <a:rPr lang="en-US" sz="4000" dirty="0">
                <a:latin typeface="Times New Roman" panose="02020603050405020304" pitchFamily="18" charset="0"/>
                <a:cs typeface="Times New Roman" panose="02020603050405020304" pitchFamily="18" charset="0"/>
              </a:rPr>
              <a:t>  Drawbacks of Existing</a:t>
            </a:r>
            <a:endParaRPr lang="en-IN" sz="4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120EC671-7DCE-8BAC-BA43-196DE3FD10DD}"/>
              </a:ext>
            </a:extLst>
          </p:cNvPr>
          <p:cNvSpPr txBox="1"/>
          <p:nvPr/>
        </p:nvSpPr>
        <p:spPr>
          <a:xfrm>
            <a:off x="376084" y="2664542"/>
            <a:ext cx="11353800" cy="3693319"/>
          </a:xfrm>
          <a:prstGeom prst="rect">
            <a:avLst/>
          </a:prstGeom>
          <a:noFill/>
        </p:spPr>
        <p:txBody>
          <a:bodyPr wrap="square" rtlCol="0">
            <a:spAutoFit/>
          </a:bodyPr>
          <a:lstStyle/>
          <a:p>
            <a:pPr marL="533400" indent="-358775" algn="just">
              <a:buFont typeface="Wingdings" panose="05000000000000000000" pitchFamily="2" charset="2"/>
              <a:buChar char="Ø"/>
            </a:pPr>
            <a:r>
              <a:rPr lang="en-US" b="1" dirty="0"/>
              <a:t>Lack of Prioritization:</a:t>
            </a:r>
            <a:r>
              <a:rPr lang="en-US" dirty="0"/>
              <a:t> Many systems fail to classify issues by urgency, leading to delays in resolving critical complaints.</a:t>
            </a:r>
          </a:p>
          <a:p>
            <a:pPr marL="533400" indent="-358775" algn="just">
              <a:buFont typeface="Wingdings" panose="05000000000000000000" pitchFamily="2" charset="2"/>
              <a:buChar char="Ø"/>
            </a:pPr>
            <a:r>
              <a:rPr lang="en-US" b="1" dirty="0"/>
              <a:t>Delayed Response Times:</a:t>
            </a:r>
            <a:r>
              <a:rPr lang="en-US" dirty="0"/>
              <a:t> Traditional feedback and complaint systems rely on manual processing, causing long turnaround times.</a:t>
            </a:r>
          </a:p>
          <a:p>
            <a:pPr marL="533400" indent="-358775" algn="just">
              <a:buFont typeface="Wingdings" panose="05000000000000000000" pitchFamily="2" charset="2"/>
              <a:buChar char="Ø"/>
            </a:pPr>
            <a:r>
              <a:rPr lang="en-US" b="1" dirty="0"/>
              <a:t>No Real-Time Assistance:</a:t>
            </a:r>
            <a:r>
              <a:rPr lang="en-US" dirty="0"/>
              <a:t> Most systems lack AI chatbots or real-time support, forcing users to wait for human intervention.</a:t>
            </a:r>
          </a:p>
          <a:p>
            <a:pPr marL="533400" indent="-358775" algn="just">
              <a:buFont typeface="Wingdings" panose="05000000000000000000" pitchFamily="2" charset="2"/>
              <a:buChar char="Ø"/>
            </a:pPr>
            <a:r>
              <a:rPr lang="en-US" b="1" dirty="0"/>
              <a:t>Low User Satisfaction:</a:t>
            </a:r>
            <a:r>
              <a:rPr lang="en-US" dirty="0"/>
              <a:t> Due to delays, unclear tracking, and limited transparency, students and staff often feel their issues remain unresolved.</a:t>
            </a:r>
          </a:p>
          <a:p>
            <a:pPr marL="533400" indent="-358775" algn="just">
              <a:buFont typeface="Wingdings" panose="05000000000000000000" pitchFamily="2" charset="2"/>
              <a:buChar char="Ø"/>
            </a:pPr>
            <a:r>
              <a:rPr lang="en-IN" b="1" dirty="0"/>
              <a:t>Manual Complaint Raising</a:t>
            </a:r>
            <a:r>
              <a:rPr lang="en-US" b="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dirty="0"/>
              <a:t>Manual complaint raising is time-consuming, error-prone, and lacks transparency in tracking and resolution.</a:t>
            </a:r>
          </a:p>
          <a:p>
            <a:pPr marL="533400" indent="-358775" algn="just">
              <a:buFont typeface="Wingdings" panose="05000000000000000000" pitchFamily="2" charset="2"/>
              <a:buChar char="Ø"/>
            </a:pPr>
            <a:r>
              <a:rPr lang="en-US" b="1" dirty="0"/>
              <a:t>Weak Classification Accuracy:</a:t>
            </a:r>
            <a:r>
              <a:rPr lang="en-US" dirty="0"/>
              <a:t> Current ML-based systems often fail in multi-domain classification</a:t>
            </a:r>
          </a:p>
          <a:p>
            <a:pPr marL="533400" indent="-358775" algn="just">
              <a:buFont typeface="Wingdings" panose="05000000000000000000" pitchFamily="2" charset="2"/>
              <a:buChar char="Ø"/>
            </a:pPr>
            <a:r>
              <a:rPr lang="en-US" b="1" dirty="0"/>
              <a:t>Absence of Dashboard in Admin Login: </a:t>
            </a:r>
            <a:r>
              <a:rPr lang="en-US" dirty="0"/>
              <a:t>The admin login does not provide a dashboard, leading to inefficient complaint monitoring and management.</a:t>
            </a:r>
            <a:endParaRPr lang="en-IN" b="1" dirty="0">
              <a:latin typeface="Times New Roman" panose="02020603050405020304" pitchFamily="18" charset="0"/>
              <a:cs typeface="Times New Roman" panose="02020603050405020304" pitchFamily="18" charset="0"/>
            </a:endParaRPr>
          </a:p>
        </p:txBody>
      </p:sp>
      <p:pic>
        <p:nvPicPr>
          <p:cNvPr id="8" name="Content Placeholder 7">
            <a:extLst>
              <a:ext uri="{FF2B5EF4-FFF2-40B4-BE49-F238E27FC236}">
                <a16:creationId xmlns:a16="http://schemas.microsoft.com/office/drawing/2014/main" id="{6030E9CD-5FC3-B9EE-69C6-179D659489A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8528" y="75000"/>
            <a:ext cx="9448801" cy="1256136"/>
          </a:xfrm>
        </p:spPr>
      </p:pic>
    </p:spTree>
    <p:extLst>
      <p:ext uri="{BB962C8B-B14F-4D97-AF65-F5344CB8AC3E}">
        <p14:creationId xmlns:p14="http://schemas.microsoft.com/office/powerpoint/2010/main" val="1365396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226C55-6114-C443-4BA4-1FF916B531C4}"/>
              </a:ext>
            </a:extLst>
          </p:cNvPr>
          <p:cNvSpPr>
            <a:spLocks noGrp="1"/>
          </p:cNvSpPr>
          <p:nvPr>
            <p:ph type="ctrTitle"/>
          </p:nvPr>
        </p:nvSpPr>
        <p:spPr>
          <a:xfrm>
            <a:off x="2194559" y="1132196"/>
            <a:ext cx="7183448" cy="1188218"/>
          </a:xfrm>
        </p:spPr>
        <p:txBody>
          <a:bodyPr>
            <a:normAutofit/>
          </a:bodyPr>
          <a:lstStyle/>
          <a:p>
            <a:r>
              <a:rPr lang="en-US" sz="4000" dirty="0">
                <a:latin typeface="Times New Roman" panose="02020603050405020304" pitchFamily="18" charset="0"/>
                <a:cs typeface="Times New Roman" panose="02020603050405020304" pitchFamily="18" charset="0"/>
              </a:rPr>
              <a:t>Advantages of Proposed System</a:t>
            </a:r>
            <a:endParaRPr lang="en-IN" sz="40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AD86EA95-DBB7-C870-15F6-8B06C8E5BDA0}"/>
              </a:ext>
            </a:extLst>
          </p:cNvPr>
          <p:cNvSpPr>
            <a:spLocks noGrp="1"/>
          </p:cNvSpPr>
          <p:nvPr>
            <p:ph type="subTitle" idx="1"/>
          </p:nvPr>
        </p:nvSpPr>
        <p:spPr>
          <a:xfrm>
            <a:off x="487680" y="2560319"/>
            <a:ext cx="10668000" cy="3655423"/>
          </a:xfrm>
        </p:spPr>
        <p:txBody>
          <a:bodyPr>
            <a:normAutofit fontScale="25000" lnSpcReduction="20000"/>
          </a:bodyPr>
          <a:lstStyle/>
          <a:p>
            <a:pPr marL="892175" indent="-446088" algn="just">
              <a:buFont typeface="Wingdings" panose="05000000000000000000" pitchFamily="2" charset="2"/>
              <a:buChar char="Ø"/>
            </a:pPr>
            <a:r>
              <a:rPr lang="en-US" sz="7200" b="1" dirty="0"/>
              <a:t>Efficient Prioritization: </a:t>
            </a:r>
            <a:r>
              <a:rPr lang="en-US" sz="7200" dirty="0"/>
              <a:t>Our system uses transformer-based models to categorize and prioritize complaints by urgency, ensuring critical issues are resolved first.</a:t>
            </a:r>
          </a:p>
          <a:p>
            <a:pPr marL="892175" indent="-446088" algn="just">
              <a:buFont typeface="Wingdings" panose="05000000000000000000" pitchFamily="2" charset="2"/>
              <a:buChar char="Ø"/>
            </a:pPr>
            <a:r>
              <a:rPr lang="en-US" sz="7200" b="1" dirty="0"/>
              <a:t>Faster Response Times: </a:t>
            </a:r>
            <a:r>
              <a:rPr lang="en-US" sz="7200" dirty="0"/>
              <a:t>AI-driven ticket automation minimizes manual intervention, significantly reducing turnaround time for complaint resolution.</a:t>
            </a:r>
          </a:p>
          <a:p>
            <a:pPr marL="892175" indent="-446088" algn="just">
              <a:buFont typeface="Wingdings" panose="05000000000000000000" pitchFamily="2" charset="2"/>
              <a:buChar char="Ø"/>
            </a:pPr>
            <a:r>
              <a:rPr lang="en-US" sz="7200" b="1" dirty="0"/>
              <a:t>Real-Time Assistance: </a:t>
            </a:r>
            <a:r>
              <a:rPr lang="en-US" sz="7200" dirty="0"/>
              <a:t>An integrated AI chatbot provides instant support, guiding users through complaint registration and offering immediate responses</a:t>
            </a:r>
            <a:r>
              <a:rPr lang="en-US" sz="7200" dirty="0">
                <a:latin typeface="Times New Roman" panose="02020603050405020304" pitchFamily="18" charset="0"/>
                <a:cs typeface="Times New Roman" panose="02020603050405020304" pitchFamily="18" charset="0"/>
              </a:rPr>
              <a:t>.</a:t>
            </a:r>
          </a:p>
          <a:p>
            <a:pPr marL="892175" indent="-446088" algn="just">
              <a:buFont typeface="Wingdings" panose="05000000000000000000" pitchFamily="2" charset="2"/>
              <a:buChar char="Ø"/>
            </a:pPr>
            <a:r>
              <a:rPr lang="en-US" sz="7200" b="1" dirty="0"/>
              <a:t>Enhanced User Satisfaction: </a:t>
            </a:r>
            <a:r>
              <a:rPr lang="en-US" sz="7200" dirty="0"/>
              <a:t>Transparent tracking, timely updates, and structured resolution workflows improve trust and overall user experience.</a:t>
            </a:r>
          </a:p>
          <a:p>
            <a:pPr marL="892175" indent="-446088" algn="just">
              <a:buFont typeface="Wingdings" panose="05000000000000000000" pitchFamily="2" charset="2"/>
              <a:buChar char="Ø"/>
            </a:pPr>
            <a:r>
              <a:rPr lang="en-US" sz="7200" b="1" dirty="0"/>
              <a:t>Automated Complaint Raising: </a:t>
            </a:r>
            <a:r>
              <a:rPr lang="en-US" sz="7200" dirty="0"/>
              <a:t>Users can submit complaints digitally with guided assistance, eliminating manual effort and reducing errors.</a:t>
            </a:r>
          </a:p>
          <a:p>
            <a:pPr marL="892175" indent="-446088" algn="just">
              <a:buFont typeface="Wingdings" panose="05000000000000000000" pitchFamily="2" charset="2"/>
              <a:buChar char="Ø"/>
            </a:pPr>
            <a:r>
              <a:rPr lang="en-US" sz="7200" b="1" dirty="0"/>
              <a:t>High Classification Accuracy: </a:t>
            </a:r>
            <a:r>
              <a:rPr lang="en-US" sz="7200" dirty="0"/>
              <a:t>Advanced NLP models ensure accurate categorization across multiple domains (academic, technical, and maintenance)</a:t>
            </a:r>
            <a:r>
              <a:rPr lang="en-US" sz="7200" dirty="0">
                <a:latin typeface="Times New Roman" panose="02020603050405020304" pitchFamily="18" charset="0"/>
                <a:cs typeface="Times New Roman" panose="02020603050405020304" pitchFamily="18" charset="0"/>
              </a:rPr>
              <a:t>.</a:t>
            </a:r>
          </a:p>
          <a:p>
            <a:pPr marL="892175" indent="-446088" algn="just">
              <a:buFont typeface="Wingdings" panose="05000000000000000000" pitchFamily="2" charset="2"/>
              <a:buChar char="Ø"/>
            </a:pPr>
            <a:r>
              <a:rPr lang="en-US" sz="7200" b="1" dirty="0"/>
              <a:t>Interactive Admin Dashboard: </a:t>
            </a:r>
            <a:r>
              <a:rPr lang="en-US" sz="7200" dirty="0"/>
              <a:t>A comprehensive dashboard for admins enables effective </a:t>
            </a:r>
            <a:r>
              <a:rPr lang="en-US" sz="7200" dirty="0" err="1"/>
              <a:t>monitoring,complaint</a:t>
            </a:r>
            <a:r>
              <a:rPr lang="en-US" sz="7200" dirty="0"/>
              <a:t> tracking, and data-driven decision-making.</a:t>
            </a:r>
            <a:endParaRPr lang="en-US" sz="7200" dirty="0">
              <a:latin typeface="Times New Roman" panose="02020603050405020304" pitchFamily="18" charset="0"/>
              <a:cs typeface="Times New Roman" panose="02020603050405020304" pitchFamily="18" charset="0"/>
            </a:endParaRPr>
          </a:p>
          <a:p>
            <a:pPr marL="892175" indent="-446088">
              <a:buFont typeface="Wingdings" panose="05000000000000000000" pitchFamily="2" charset="2"/>
              <a:buChar char="Ø"/>
            </a:pPr>
            <a:endParaRPr lang="en-IN" dirty="0"/>
          </a:p>
        </p:txBody>
      </p:sp>
      <p:pic>
        <p:nvPicPr>
          <p:cNvPr id="5" name="Picture 4">
            <a:extLst>
              <a:ext uri="{FF2B5EF4-FFF2-40B4-BE49-F238E27FC236}">
                <a16:creationId xmlns:a16="http://schemas.microsoft.com/office/drawing/2014/main" id="{98C781D1-8D64-E3F0-7D93-E57810D0C2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09" y="226889"/>
            <a:ext cx="9311149" cy="1070970"/>
          </a:xfrm>
          <a:prstGeom prst="rect">
            <a:avLst/>
          </a:prstGeom>
        </p:spPr>
      </p:pic>
    </p:spTree>
    <p:extLst>
      <p:ext uri="{BB962C8B-B14F-4D97-AF65-F5344CB8AC3E}">
        <p14:creationId xmlns:p14="http://schemas.microsoft.com/office/powerpoint/2010/main" val="16882148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2D7C3-C467-87B4-17F9-CB1CF304BC73}"/>
              </a:ext>
            </a:extLst>
          </p:cNvPr>
          <p:cNvSpPr>
            <a:spLocks noGrp="1"/>
          </p:cNvSpPr>
          <p:nvPr>
            <p:ph type="ctrTitle"/>
          </p:nvPr>
        </p:nvSpPr>
        <p:spPr>
          <a:xfrm>
            <a:off x="1347020" y="-547192"/>
            <a:ext cx="9144000" cy="2387600"/>
          </a:xfrm>
        </p:spPr>
        <p:txBody>
          <a:bodyPr>
            <a:normAutofit/>
          </a:bodyPr>
          <a:lstStyle/>
          <a:p>
            <a:r>
              <a:rPr lang="en-US" sz="4000" dirty="0">
                <a:latin typeface="Times New Roman" panose="02020603050405020304" pitchFamily="18" charset="0"/>
                <a:cs typeface="Times New Roman" panose="02020603050405020304" pitchFamily="18" charset="0"/>
              </a:rPr>
              <a:t>Proposed Methodology</a:t>
            </a:r>
            <a:endParaRPr lang="en-IN" sz="4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4D1E065C-1934-952F-0EE9-5B791A43486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0207" y="124755"/>
            <a:ext cx="9517626" cy="1043707"/>
          </a:xfrm>
          <a:prstGeom prst="rect">
            <a:avLst/>
          </a:prstGeom>
        </p:spPr>
      </p:pic>
      <p:pic>
        <p:nvPicPr>
          <p:cNvPr id="1027" name="Picture 1">
            <a:extLst>
              <a:ext uri="{FF2B5EF4-FFF2-40B4-BE49-F238E27FC236}">
                <a16:creationId xmlns:a16="http://schemas.microsoft.com/office/drawing/2014/main" id="{790284B8-D84B-9207-A799-BEB1FBD1B1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62866" y="1840408"/>
            <a:ext cx="5889522" cy="4892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635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F9395-3B8E-96DC-7A04-A74696B27450}"/>
              </a:ext>
            </a:extLst>
          </p:cNvPr>
          <p:cNvSpPr>
            <a:spLocks noGrp="1"/>
          </p:cNvSpPr>
          <p:nvPr>
            <p:ph type="title"/>
          </p:nvPr>
        </p:nvSpPr>
        <p:spPr>
          <a:xfrm>
            <a:off x="3945111" y="1186906"/>
            <a:ext cx="3770835" cy="1325563"/>
          </a:xfrm>
        </p:spPr>
        <p:txBody>
          <a:bodyPr>
            <a:normAutofit/>
          </a:bodyPr>
          <a:lstStyle/>
          <a:p>
            <a:r>
              <a:rPr lang="en-IN" sz="4000" b="1" dirty="0">
                <a:latin typeface="Times New Roman" panose="02020603050405020304" pitchFamily="18" charset="0"/>
                <a:cs typeface="Times New Roman" panose="02020603050405020304" pitchFamily="18" charset="0"/>
              </a:rPr>
              <a:t>Technical Stack</a:t>
            </a:r>
          </a:p>
        </p:txBody>
      </p:sp>
      <p:sp>
        <p:nvSpPr>
          <p:cNvPr id="4" name="Rectangle 1">
            <a:extLst>
              <a:ext uri="{FF2B5EF4-FFF2-40B4-BE49-F238E27FC236}">
                <a16:creationId xmlns:a16="http://schemas.microsoft.com/office/drawing/2014/main" id="{38352EE6-F1B7-C7F0-5FAF-671819915DCC}"/>
              </a:ext>
            </a:extLst>
          </p:cNvPr>
          <p:cNvSpPr>
            <a:spLocks noGrp="1" noChangeArrowheads="1"/>
          </p:cNvSpPr>
          <p:nvPr>
            <p:ph idx="1"/>
          </p:nvPr>
        </p:nvSpPr>
        <p:spPr bwMode="auto">
          <a:xfrm>
            <a:off x="838200" y="2453011"/>
            <a:ext cx="10377948" cy="3361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Ø"/>
            </a:pPr>
            <a:r>
              <a:rPr lang="en-IN" sz="1800" b="1" dirty="0"/>
              <a:t> Frontend</a:t>
            </a:r>
            <a:endParaRPr lang="en-IN" sz="1800" dirty="0"/>
          </a:p>
          <a:p>
            <a:r>
              <a:rPr lang="en-IN" sz="1800" b="1" dirty="0"/>
              <a:t>Core:</a:t>
            </a:r>
            <a:r>
              <a:rPr lang="en-IN" sz="1800" dirty="0"/>
              <a:t> React 18.2.0, JavaScript (ES6+), Vite 7.0.4</a:t>
            </a:r>
          </a:p>
          <a:p>
            <a:r>
              <a:rPr lang="en-IN" sz="1800" b="1" dirty="0"/>
              <a:t>Styling &amp; UI:</a:t>
            </a:r>
            <a:r>
              <a:rPr lang="en-IN" sz="1800" dirty="0"/>
              <a:t> Tailwind CSS 3.4.17, Headless UI 2.0.0, Uncertainty</a:t>
            </a:r>
          </a:p>
          <a:p>
            <a:r>
              <a:rPr lang="en-IN" sz="1800" b="1" dirty="0"/>
              <a:t>Visualization:</a:t>
            </a:r>
            <a:r>
              <a:rPr lang="en-IN" sz="1800" dirty="0"/>
              <a:t> Chart.js 4.4.0, react-chartjs-2 5.2.0</a:t>
            </a:r>
          </a:p>
          <a:p>
            <a:pPr>
              <a:buFont typeface="Wingdings" panose="05000000000000000000" pitchFamily="2" charset="2"/>
              <a:buChar char="Ø"/>
            </a:pPr>
            <a:r>
              <a:rPr lang="en-IN" sz="1800" b="1" dirty="0"/>
              <a:t>Backend</a:t>
            </a:r>
            <a:endParaRPr lang="en-IN" sz="1800" dirty="0"/>
          </a:p>
          <a:p>
            <a:r>
              <a:rPr lang="en-IN" sz="1800" b="1" dirty="0"/>
              <a:t>Core:</a:t>
            </a:r>
            <a:r>
              <a:rPr lang="en-IN" sz="1800" dirty="0"/>
              <a:t> Python 3.8+, Flask 2.3.3, Flask-CORS 4.0.0</a:t>
            </a:r>
          </a:p>
          <a:p>
            <a:r>
              <a:rPr lang="en-IN" sz="1800" b="1" dirty="0"/>
              <a:t>Database:</a:t>
            </a:r>
            <a:r>
              <a:rPr lang="en-IN" sz="1800" dirty="0"/>
              <a:t> PostgreSQL (via Neon URI)</a:t>
            </a:r>
          </a:p>
          <a:p>
            <a:r>
              <a:rPr lang="en-IN" sz="1800" b="1" dirty="0"/>
              <a:t>AI/ML:</a:t>
            </a:r>
            <a:r>
              <a:rPr lang="en-IN" sz="1800" dirty="0"/>
              <a:t> BERT, Pre-trained Classifiers (.</a:t>
            </a:r>
            <a:r>
              <a:rPr lang="en-IN" sz="1800" dirty="0" err="1"/>
              <a:t>pkl</a:t>
            </a:r>
            <a:r>
              <a:rPr lang="en-IN" sz="1800" dirty="0"/>
              <a:t>)</a:t>
            </a:r>
          </a:p>
          <a:p>
            <a:r>
              <a:rPr lang="en-IN" sz="1800" b="1" dirty="0"/>
              <a:t>APIs &amp; Services:</a:t>
            </a:r>
            <a:r>
              <a:rPr lang="en-IN" sz="1800" dirty="0"/>
              <a:t> Gemini API, </a:t>
            </a:r>
            <a:r>
              <a:rPr lang="en-IN" sz="1800" dirty="0" err="1"/>
              <a:t>Cloudinary</a:t>
            </a:r>
            <a:r>
              <a:rPr lang="en-IN" sz="1800" dirty="0"/>
              <a:t> 1.36.0, Flask-Mail 0.9.1, requests 2.31.0</a:t>
            </a:r>
          </a:p>
        </p:txBody>
      </p:sp>
      <p:pic>
        <p:nvPicPr>
          <p:cNvPr id="6" name="Picture 5">
            <a:extLst>
              <a:ext uri="{FF2B5EF4-FFF2-40B4-BE49-F238E27FC236}">
                <a16:creationId xmlns:a16="http://schemas.microsoft.com/office/drawing/2014/main" id="{FDE4B233-DE71-AD89-CFA4-FAD24A93AA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3665" y="149571"/>
            <a:ext cx="8573729" cy="1325563"/>
          </a:xfrm>
          <a:prstGeom prst="rect">
            <a:avLst/>
          </a:prstGeom>
        </p:spPr>
      </p:pic>
    </p:spTree>
    <p:extLst>
      <p:ext uri="{BB962C8B-B14F-4D97-AF65-F5344CB8AC3E}">
        <p14:creationId xmlns:p14="http://schemas.microsoft.com/office/powerpoint/2010/main" val="14695035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8EE3A2-B28D-EE22-0A7C-E217428BA2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D8534-D92B-8363-10FA-833C4448B7CD}"/>
              </a:ext>
            </a:extLst>
          </p:cNvPr>
          <p:cNvSpPr>
            <a:spLocks noGrp="1"/>
          </p:cNvSpPr>
          <p:nvPr>
            <p:ph type="title"/>
          </p:nvPr>
        </p:nvSpPr>
        <p:spPr>
          <a:xfrm>
            <a:off x="3945111" y="1186906"/>
            <a:ext cx="3770835" cy="1325563"/>
          </a:xfrm>
        </p:spPr>
        <p:txBody>
          <a:bodyPr>
            <a:normAutofit/>
          </a:bodyPr>
          <a:lstStyle/>
          <a:p>
            <a:r>
              <a:rPr lang="en-IN" sz="4000" b="1" dirty="0">
                <a:latin typeface="Times New Roman" panose="02020603050405020304" pitchFamily="18" charset="0"/>
                <a:cs typeface="Times New Roman" panose="02020603050405020304" pitchFamily="18" charset="0"/>
              </a:rPr>
              <a:t>Technical Stack</a:t>
            </a:r>
          </a:p>
        </p:txBody>
      </p:sp>
      <p:sp>
        <p:nvSpPr>
          <p:cNvPr id="4" name="Rectangle 1">
            <a:extLst>
              <a:ext uri="{FF2B5EF4-FFF2-40B4-BE49-F238E27FC236}">
                <a16:creationId xmlns:a16="http://schemas.microsoft.com/office/drawing/2014/main" id="{B646BB0D-4314-C822-121B-A144971210E2}"/>
              </a:ext>
            </a:extLst>
          </p:cNvPr>
          <p:cNvSpPr>
            <a:spLocks noGrp="1" noChangeArrowheads="1"/>
          </p:cNvSpPr>
          <p:nvPr>
            <p:ph idx="1"/>
          </p:nvPr>
        </p:nvSpPr>
        <p:spPr bwMode="auto">
          <a:xfrm>
            <a:off x="981177" y="2623909"/>
            <a:ext cx="10377948" cy="18517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Ø"/>
            </a:pPr>
            <a:r>
              <a:rPr lang="en-IN" sz="1800" b="1" dirty="0"/>
              <a:t> Infrastructure &amp; Deployment</a:t>
            </a:r>
            <a:endParaRPr lang="en-IN" sz="1800" dirty="0"/>
          </a:p>
          <a:p>
            <a:r>
              <a:rPr lang="en-IN" sz="1800" b="1" dirty="0"/>
              <a:t>Containerization:</a:t>
            </a:r>
            <a:r>
              <a:rPr lang="en-IN" sz="1800" dirty="0"/>
              <a:t> Docker, Docker Compose</a:t>
            </a:r>
          </a:p>
          <a:p>
            <a:r>
              <a:rPr lang="en-IN" sz="1800" b="1" dirty="0"/>
              <a:t>Cloud Services:</a:t>
            </a:r>
            <a:r>
              <a:rPr lang="en-IN" sz="1800" dirty="0"/>
              <a:t> </a:t>
            </a:r>
            <a:r>
              <a:rPr lang="en-IN" sz="1800" dirty="0" err="1"/>
              <a:t>Vercel</a:t>
            </a:r>
            <a:r>
              <a:rPr lang="en-IN" sz="1800" dirty="0"/>
              <a:t> (Frontend), Neon (DB), </a:t>
            </a:r>
            <a:r>
              <a:rPr lang="en-IN" sz="1800" dirty="0" err="1"/>
              <a:t>Cloudinary</a:t>
            </a:r>
            <a:r>
              <a:rPr lang="en-IN" sz="1800" dirty="0"/>
              <a:t> (Media)</a:t>
            </a:r>
          </a:p>
          <a:p>
            <a:r>
              <a:rPr lang="en-IN" sz="1800" b="1" dirty="0"/>
              <a:t>Version Control:</a:t>
            </a:r>
            <a:r>
              <a:rPr lang="en-IN" sz="1800" dirty="0"/>
              <a:t> Git, GitHub</a:t>
            </a:r>
          </a:p>
          <a:p>
            <a:pPr>
              <a:buFont typeface="Wingdings" panose="05000000000000000000" pitchFamily="2" charset="2"/>
              <a:buChar char="Ø"/>
            </a:pPr>
            <a:endParaRPr lang="en-IN" sz="1800" dirty="0"/>
          </a:p>
        </p:txBody>
      </p:sp>
      <p:pic>
        <p:nvPicPr>
          <p:cNvPr id="6" name="Picture 5">
            <a:extLst>
              <a:ext uri="{FF2B5EF4-FFF2-40B4-BE49-F238E27FC236}">
                <a16:creationId xmlns:a16="http://schemas.microsoft.com/office/drawing/2014/main" id="{B5C6A650-65DD-B775-3514-3CB8D48E5E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3665" y="149571"/>
            <a:ext cx="8573729" cy="1325563"/>
          </a:xfrm>
          <a:prstGeom prst="rect">
            <a:avLst/>
          </a:prstGeom>
        </p:spPr>
      </p:pic>
    </p:spTree>
    <p:extLst>
      <p:ext uri="{BB962C8B-B14F-4D97-AF65-F5344CB8AC3E}">
        <p14:creationId xmlns:p14="http://schemas.microsoft.com/office/powerpoint/2010/main" val="42233812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F8CA4-54DC-34F1-DF8E-B1FAF979D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F5819E-D2C2-01CD-CE0E-EDE5C893FEBD}"/>
              </a:ext>
            </a:extLst>
          </p:cNvPr>
          <p:cNvSpPr>
            <a:spLocks noGrp="1"/>
          </p:cNvSpPr>
          <p:nvPr>
            <p:ph type="title"/>
          </p:nvPr>
        </p:nvSpPr>
        <p:spPr>
          <a:xfrm>
            <a:off x="4553155" y="1101088"/>
            <a:ext cx="2203245" cy="1325563"/>
          </a:xfrm>
        </p:spPr>
        <p:txBody>
          <a:bodyPr>
            <a:normAutofit/>
          </a:bodyPr>
          <a:lstStyle/>
          <a:p>
            <a:r>
              <a:rPr lang="en-IN" sz="4000" b="1" dirty="0">
                <a:latin typeface="Times New Roman" panose="02020603050405020304" pitchFamily="18" charset="0"/>
                <a:cs typeface="Times New Roman" panose="02020603050405020304" pitchFamily="18" charset="0"/>
              </a:rPr>
              <a:t>Modules</a:t>
            </a:r>
          </a:p>
        </p:txBody>
      </p:sp>
      <p:pic>
        <p:nvPicPr>
          <p:cNvPr id="5" name="Picture 4">
            <a:extLst>
              <a:ext uri="{FF2B5EF4-FFF2-40B4-BE49-F238E27FC236}">
                <a16:creationId xmlns:a16="http://schemas.microsoft.com/office/drawing/2014/main" id="{7DB0743E-995A-4483-DBBD-615C0B9458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6685" y="359211"/>
            <a:ext cx="9144000" cy="1219200"/>
          </a:xfrm>
          <a:prstGeom prst="rect">
            <a:avLst/>
          </a:prstGeom>
        </p:spPr>
      </p:pic>
      <p:sp>
        <p:nvSpPr>
          <p:cNvPr id="10" name="TextBox 9">
            <a:extLst>
              <a:ext uri="{FF2B5EF4-FFF2-40B4-BE49-F238E27FC236}">
                <a16:creationId xmlns:a16="http://schemas.microsoft.com/office/drawing/2014/main" id="{68DE5BDD-B0E8-4F46-3050-36ABB9474B3C}"/>
              </a:ext>
            </a:extLst>
          </p:cNvPr>
          <p:cNvSpPr txBox="1"/>
          <p:nvPr/>
        </p:nvSpPr>
        <p:spPr>
          <a:xfrm>
            <a:off x="1366685" y="1885406"/>
            <a:ext cx="9144000" cy="4801314"/>
          </a:xfrm>
          <a:prstGeom prst="rect">
            <a:avLst/>
          </a:prstGeom>
          <a:noFill/>
        </p:spPr>
        <p:txBody>
          <a:bodyPr wrap="square" rtlCol="0">
            <a:spAutoFit/>
          </a:bodyPr>
          <a:lstStyle/>
          <a:p>
            <a:pPr marL="342900" indent="-342900">
              <a:buFont typeface="+mj-lt"/>
              <a:buAutoNum type="arabicPeriod"/>
            </a:pPr>
            <a:r>
              <a:rPr lang="en-US" b="1" dirty="0"/>
              <a:t>User Authentication &amp; Authorization</a:t>
            </a:r>
          </a:p>
          <a:p>
            <a:pPr marL="742950" lvl="1" indent="-285750">
              <a:buFont typeface="Arial" panose="020B0604020202020204" pitchFamily="34" charset="0"/>
              <a:buChar char="•"/>
            </a:pPr>
            <a:r>
              <a:rPr lang="en-US" dirty="0"/>
              <a:t>Secure signup/login with JWT</a:t>
            </a:r>
          </a:p>
          <a:p>
            <a:pPr marL="742950" lvl="1" indent="-285750">
              <a:buFont typeface="Arial" panose="020B0604020202020204" pitchFamily="34" charset="0"/>
              <a:buChar char="•"/>
            </a:pPr>
            <a:r>
              <a:rPr lang="en-US" dirty="0"/>
              <a:t>Role-based access (Student, Faculty, Admin)</a:t>
            </a:r>
          </a:p>
          <a:p>
            <a:pPr marL="342900" indent="-342900">
              <a:buFont typeface="+mj-lt"/>
              <a:buAutoNum type="arabicPeriod"/>
            </a:pPr>
            <a:r>
              <a:rPr lang="en-US" b="1" dirty="0"/>
              <a:t>Complaint Management</a:t>
            </a:r>
          </a:p>
          <a:p>
            <a:pPr marL="742950" lvl="1" indent="-285750">
              <a:buFont typeface="Arial" panose="020B0604020202020204" pitchFamily="34" charset="0"/>
              <a:buChar char="•"/>
            </a:pPr>
            <a:r>
              <a:rPr lang="en-US" dirty="0"/>
              <a:t>Complaint submission with category &amp; priority</a:t>
            </a:r>
          </a:p>
          <a:p>
            <a:pPr marL="742950" lvl="1" indent="-285750">
              <a:buFont typeface="Arial" panose="020B0604020202020204" pitchFamily="34" charset="0"/>
              <a:buChar char="•"/>
            </a:pPr>
            <a:r>
              <a:rPr lang="en-US" dirty="0"/>
              <a:t>Ticket ID generation &amp; tracking</a:t>
            </a:r>
          </a:p>
          <a:p>
            <a:pPr marL="742950" lvl="1" indent="-285750">
              <a:buFont typeface="Arial" panose="020B0604020202020204" pitchFamily="34" charset="0"/>
              <a:buChar char="•"/>
            </a:pPr>
            <a:r>
              <a:rPr lang="en-US" dirty="0"/>
              <a:t>Status updates (Pending, In Progress, Resolved, Closed)</a:t>
            </a:r>
          </a:p>
          <a:p>
            <a:pPr marL="342900" indent="-342900">
              <a:buFont typeface="+mj-lt"/>
              <a:buAutoNum type="arabicPeriod"/>
            </a:pPr>
            <a:r>
              <a:rPr lang="en-US" b="1" dirty="0"/>
              <a:t>AI/ML Module</a:t>
            </a:r>
          </a:p>
          <a:p>
            <a:pPr marL="742950" lvl="1" indent="-285750">
              <a:buFont typeface="Arial" panose="020B0604020202020204" pitchFamily="34" charset="0"/>
              <a:buChar char="•"/>
            </a:pPr>
            <a:r>
              <a:rPr lang="en-US" dirty="0"/>
              <a:t>Automatic categorization of complaints (Technical, Academic, Hostel/Mess, Maintenance)</a:t>
            </a:r>
          </a:p>
          <a:p>
            <a:pPr marL="742950" lvl="1" indent="-285750">
              <a:buFont typeface="Arial" panose="020B0604020202020204" pitchFamily="34" charset="0"/>
              <a:buChar char="•"/>
            </a:pPr>
            <a:r>
              <a:rPr lang="en-US" dirty="0"/>
              <a:t>Priority detection (Low, Medium, High, Urgent)</a:t>
            </a:r>
          </a:p>
          <a:p>
            <a:pPr marL="742950" lvl="1" indent="-285750">
              <a:buFont typeface="Arial" panose="020B0604020202020204" pitchFamily="34" charset="0"/>
              <a:buChar char="•"/>
            </a:pPr>
            <a:r>
              <a:rPr lang="en-US" dirty="0"/>
              <a:t>Smart routing to relevant admin</a:t>
            </a:r>
          </a:p>
          <a:p>
            <a:pPr marL="342900" indent="-342900">
              <a:buFont typeface="+mj-lt"/>
              <a:buAutoNum type="arabicPeriod"/>
            </a:pPr>
            <a:r>
              <a:rPr lang="en-US" b="1" dirty="0"/>
              <a:t>Admin Dashboard</a:t>
            </a:r>
          </a:p>
          <a:p>
            <a:pPr marL="742950" lvl="1" indent="-285750">
              <a:buFont typeface="Arial" panose="020B0604020202020204" pitchFamily="34" charset="0"/>
              <a:buChar char="•"/>
            </a:pPr>
            <a:r>
              <a:rPr lang="en-US" dirty="0"/>
              <a:t>Centralized complaint monitoring</a:t>
            </a:r>
          </a:p>
          <a:p>
            <a:pPr marL="742950" lvl="1" indent="-285750">
              <a:buFont typeface="Arial" panose="020B0604020202020204" pitchFamily="34" charset="0"/>
              <a:buChar char="•"/>
            </a:pPr>
            <a:r>
              <a:rPr lang="en-US" dirty="0"/>
              <a:t>View, update, and respond to complaints</a:t>
            </a:r>
          </a:p>
          <a:p>
            <a:pPr marL="742950" lvl="1" indent="-285750">
              <a:buFont typeface="Arial" panose="020B0604020202020204" pitchFamily="34" charset="0"/>
              <a:buChar char="•"/>
            </a:pPr>
            <a:r>
              <a:rPr lang="en-US" dirty="0"/>
              <a:t>Analytics &amp; reports (charts/graphs)</a:t>
            </a:r>
            <a:endParaRPr lang="en-IN" dirty="0"/>
          </a:p>
          <a:p>
            <a:pPr lvl="1"/>
            <a:endParaRPr lang="en-US" dirty="0"/>
          </a:p>
        </p:txBody>
      </p:sp>
      <p:sp>
        <p:nvSpPr>
          <p:cNvPr id="12" name="Rectangle 5">
            <a:extLst>
              <a:ext uri="{FF2B5EF4-FFF2-40B4-BE49-F238E27FC236}">
                <a16:creationId xmlns:a16="http://schemas.microsoft.com/office/drawing/2014/main" id="{0A2E7C36-87E9-5358-C91C-431C24435EA7}"/>
              </a:ext>
            </a:extLst>
          </p:cNvPr>
          <p:cNvSpPr>
            <a:spLocks noChangeArrowheads="1"/>
          </p:cNvSpPr>
          <p:nvPr/>
        </p:nvSpPr>
        <p:spPr bwMode="auto">
          <a:xfrm>
            <a:off x="1034143" y="2877104"/>
            <a:ext cx="7500257" cy="26963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134093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95E33-86CF-36BC-E7FD-5D74ADFA4C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DC5B72-AD39-E582-01BD-576C973A8CBF}"/>
              </a:ext>
            </a:extLst>
          </p:cNvPr>
          <p:cNvSpPr>
            <a:spLocks noGrp="1"/>
          </p:cNvSpPr>
          <p:nvPr>
            <p:ph type="title"/>
          </p:nvPr>
        </p:nvSpPr>
        <p:spPr>
          <a:xfrm>
            <a:off x="4553155" y="1224359"/>
            <a:ext cx="2203245" cy="1325563"/>
          </a:xfrm>
        </p:spPr>
        <p:txBody>
          <a:bodyPr>
            <a:normAutofit/>
          </a:bodyPr>
          <a:lstStyle/>
          <a:p>
            <a:r>
              <a:rPr lang="en-IN" sz="4000" b="1" dirty="0">
                <a:latin typeface="Times New Roman" panose="02020603050405020304" pitchFamily="18" charset="0"/>
                <a:cs typeface="Times New Roman" panose="02020603050405020304" pitchFamily="18" charset="0"/>
              </a:rPr>
              <a:t>Modules</a:t>
            </a:r>
          </a:p>
        </p:txBody>
      </p:sp>
      <p:pic>
        <p:nvPicPr>
          <p:cNvPr id="5" name="Picture 4">
            <a:extLst>
              <a:ext uri="{FF2B5EF4-FFF2-40B4-BE49-F238E27FC236}">
                <a16:creationId xmlns:a16="http://schemas.microsoft.com/office/drawing/2014/main" id="{3B39C73B-F8D0-5DB7-0801-09AC62E1E1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6685" y="283112"/>
            <a:ext cx="9144000" cy="1219200"/>
          </a:xfrm>
          <a:prstGeom prst="rect">
            <a:avLst/>
          </a:prstGeom>
        </p:spPr>
      </p:pic>
      <p:sp>
        <p:nvSpPr>
          <p:cNvPr id="12" name="Rectangle 5">
            <a:extLst>
              <a:ext uri="{FF2B5EF4-FFF2-40B4-BE49-F238E27FC236}">
                <a16:creationId xmlns:a16="http://schemas.microsoft.com/office/drawing/2014/main" id="{7682D9F5-0CA5-0FBB-0928-BA8EE49AD478}"/>
              </a:ext>
            </a:extLst>
          </p:cNvPr>
          <p:cNvSpPr>
            <a:spLocks noChangeArrowheads="1"/>
          </p:cNvSpPr>
          <p:nvPr/>
        </p:nvSpPr>
        <p:spPr bwMode="auto">
          <a:xfrm>
            <a:off x="1366685" y="2271969"/>
            <a:ext cx="91440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b="1" dirty="0">
                <a:cs typeface="Arial" panose="020B0604020202020204" pitchFamily="34" charset="0"/>
              </a:rPr>
              <a:t>5. Chatbot Support (Gemini API)</a:t>
            </a:r>
            <a:endParaRPr lang="en-US" altLang="en-US" dirty="0">
              <a:cs typeface="Arial" panose="020B0604020202020204" pitchFamily="34" charset="0"/>
            </a:endParaRPr>
          </a:p>
          <a:p>
            <a:pPr lvl="1" eaLnBrk="0" fontAlgn="base" hangingPunct="0">
              <a:spcBef>
                <a:spcPct val="0"/>
              </a:spcBef>
              <a:spcAft>
                <a:spcPct val="0"/>
              </a:spcAft>
            </a:pPr>
            <a:r>
              <a:rPr lang="en-US" altLang="en-US" dirty="0">
                <a:cs typeface="Arial" panose="020B0604020202020204" pitchFamily="34" charset="0"/>
              </a:rPr>
              <a:t>AI-powered virtual assistant</a:t>
            </a:r>
          </a:p>
          <a:p>
            <a:pPr lvl="1" eaLnBrk="0" fontAlgn="base" hangingPunct="0">
              <a:spcBef>
                <a:spcPct val="0"/>
              </a:spcBef>
              <a:spcAft>
                <a:spcPct val="0"/>
              </a:spcAft>
            </a:pPr>
            <a:r>
              <a:rPr lang="en-US" altLang="en-US" dirty="0">
                <a:cs typeface="Arial" panose="020B0604020202020204" pitchFamily="34" charset="0"/>
              </a:rPr>
              <a:t>Real-time guidance for complaint submission and queries</a:t>
            </a:r>
          </a:p>
          <a:p>
            <a:pPr lvl="0" eaLnBrk="0" fontAlgn="base" hangingPunct="0">
              <a:spcBef>
                <a:spcPct val="0"/>
              </a:spcBef>
              <a:spcAft>
                <a:spcPct val="0"/>
              </a:spcAft>
            </a:pPr>
            <a:r>
              <a:rPr lang="en-US" altLang="en-US" b="1" dirty="0">
                <a:cs typeface="Arial" panose="020B0604020202020204" pitchFamily="34" charset="0"/>
              </a:rPr>
              <a:t>6. Notification System</a:t>
            </a:r>
            <a:endParaRPr lang="en-US" altLang="en-US" dirty="0">
              <a:cs typeface="Arial" panose="020B0604020202020204" pitchFamily="34" charset="0"/>
            </a:endParaRPr>
          </a:p>
          <a:p>
            <a:pPr lvl="1" eaLnBrk="0" fontAlgn="base" hangingPunct="0">
              <a:spcBef>
                <a:spcPct val="0"/>
              </a:spcBef>
              <a:spcAft>
                <a:spcPct val="0"/>
              </a:spcAft>
            </a:pPr>
            <a:r>
              <a:rPr lang="en-US" altLang="en-US" dirty="0">
                <a:cs typeface="Arial" panose="020B0604020202020204" pitchFamily="34" charset="0"/>
              </a:rPr>
              <a:t>Email alerts for complaint updates</a:t>
            </a:r>
          </a:p>
          <a:p>
            <a:pPr lvl="1" eaLnBrk="0" fontAlgn="base" hangingPunct="0">
              <a:spcBef>
                <a:spcPct val="0"/>
              </a:spcBef>
              <a:spcAft>
                <a:spcPct val="0"/>
              </a:spcAft>
            </a:pPr>
            <a:r>
              <a:rPr lang="en-US" altLang="en-US" dirty="0">
                <a:cs typeface="Arial" panose="020B0604020202020204" pitchFamily="34" charset="0"/>
              </a:rPr>
              <a:t>Admin notifications for new complaints</a:t>
            </a:r>
          </a:p>
          <a:p>
            <a:pPr lvl="0" eaLnBrk="0" fontAlgn="base" hangingPunct="0">
              <a:spcBef>
                <a:spcPct val="0"/>
              </a:spcBef>
              <a:spcAft>
                <a:spcPct val="0"/>
              </a:spcAft>
            </a:pPr>
            <a:r>
              <a:rPr lang="en-US" altLang="en-US" b="1" dirty="0">
                <a:cs typeface="Arial" panose="020B0604020202020204" pitchFamily="34" charset="0"/>
              </a:rPr>
              <a:t>7. File &amp; Media Management</a:t>
            </a:r>
            <a:endParaRPr lang="en-US" altLang="en-US" dirty="0">
              <a:cs typeface="Arial" panose="020B0604020202020204" pitchFamily="34" charset="0"/>
            </a:endParaRPr>
          </a:p>
          <a:p>
            <a:pPr lvl="1" eaLnBrk="0" fontAlgn="base" hangingPunct="0">
              <a:spcBef>
                <a:spcPct val="0"/>
              </a:spcBef>
              <a:spcAft>
                <a:spcPct val="0"/>
              </a:spcAft>
            </a:pPr>
            <a:r>
              <a:rPr lang="en-US" altLang="en-US" dirty="0" err="1">
                <a:cs typeface="Arial" panose="020B0604020202020204" pitchFamily="34" charset="0"/>
              </a:rPr>
              <a:t>Cloudinary</a:t>
            </a:r>
            <a:r>
              <a:rPr lang="en-US" altLang="en-US" dirty="0">
                <a:cs typeface="Arial" panose="020B0604020202020204" pitchFamily="34" charset="0"/>
              </a:rPr>
              <a:t> integration for uploading evidence (images/documents)</a:t>
            </a:r>
          </a:p>
          <a:p>
            <a:pPr lvl="1" eaLnBrk="0" fontAlgn="base" hangingPunct="0">
              <a:spcBef>
                <a:spcPct val="0"/>
              </a:spcBef>
              <a:spcAft>
                <a:spcPct val="0"/>
              </a:spcAft>
            </a:pPr>
            <a:r>
              <a:rPr lang="en-US" altLang="en-US" dirty="0">
                <a:cs typeface="Arial" panose="020B0604020202020204" pitchFamily="34" charset="0"/>
              </a:rPr>
              <a:t>Secure cloud-based storage</a:t>
            </a:r>
          </a:p>
          <a:p>
            <a:pPr lvl="0" eaLnBrk="0" fontAlgn="base" hangingPunct="0">
              <a:spcBef>
                <a:spcPct val="0"/>
              </a:spcBef>
              <a:spcAft>
                <a:spcPct val="0"/>
              </a:spcAft>
            </a:pPr>
            <a:r>
              <a:rPr lang="en-US" altLang="en-US" b="1" dirty="0">
                <a:cs typeface="Arial" panose="020B0604020202020204" pitchFamily="34" charset="0"/>
              </a:rPr>
              <a:t>8. Report &amp; Analytics Module</a:t>
            </a:r>
            <a:endParaRPr lang="en-US" altLang="en-US" dirty="0">
              <a:cs typeface="Arial" panose="020B0604020202020204" pitchFamily="34" charset="0"/>
            </a:endParaRPr>
          </a:p>
          <a:p>
            <a:pPr lvl="1" eaLnBrk="0" fontAlgn="base" hangingPunct="0">
              <a:spcBef>
                <a:spcPct val="0"/>
              </a:spcBef>
              <a:spcAft>
                <a:spcPct val="0"/>
              </a:spcAft>
            </a:pPr>
            <a:r>
              <a:rPr lang="en-US" altLang="en-US" dirty="0">
                <a:cs typeface="Arial" panose="020B0604020202020204" pitchFamily="34" charset="0"/>
              </a:rPr>
              <a:t>PDF generation of complaint reports (</a:t>
            </a:r>
            <a:r>
              <a:rPr lang="en-US" altLang="en-US" dirty="0" err="1">
                <a:cs typeface="Arial" panose="020B0604020202020204" pitchFamily="34" charset="0"/>
              </a:rPr>
              <a:t>ReportLab</a:t>
            </a:r>
            <a:r>
              <a:rPr lang="en-US" altLang="en-US" dirty="0">
                <a:cs typeface="Arial" panose="020B0604020202020204" pitchFamily="34" charset="0"/>
              </a:rPr>
              <a:t>)</a:t>
            </a:r>
          </a:p>
          <a:p>
            <a:pPr lvl="1" eaLnBrk="0" fontAlgn="base" hangingPunct="0">
              <a:spcBef>
                <a:spcPct val="0"/>
              </a:spcBef>
              <a:spcAft>
                <a:spcPct val="0"/>
              </a:spcAft>
            </a:pPr>
            <a:r>
              <a:rPr lang="en-US" altLang="en-US" dirty="0">
                <a:cs typeface="Arial" panose="020B0604020202020204" pitchFamily="34" charset="0"/>
              </a:rPr>
              <a:t>Data visualization (Chart.js)</a:t>
            </a:r>
          </a:p>
          <a:p>
            <a:pPr lvl="1" eaLnBrk="0" fontAlgn="base" hangingPunct="0">
              <a:spcBef>
                <a:spcPct val="0"/>
              </a:spcBef>
              <a:spcAft>
                <a:spcPct val="0"/>
              </a:spcAft>
            </a:pPr>
            <a:r>
              <a:rPr lang="en-US" altLang="en-US" dirty="0">
                <a:cs typeface="Arial" panose="020B0604020202020204" pitchFamily="34" charset="0"/>
              </a:rPr>
              <a:t>Performance tracking &amp; insights</a:t>
            </a:r>
          </a:p>
        </p:txBody>
      </p:sp>
      <p:sp>
        <p:nvSpPr>
          <p:cNvPr id="6" name="Rectangle 3">
            <a:extLst>
              <a:ext uri="{FF2B5EF4-FFF2-40B4-BE49-F238E27FC236}">
                <a16:creationId xmlns:a16="http://schemas.microsoft.com/office/drawing/2014/main" id="{0CE39B4E-AD93-756D-94D6-C8F27A5B8F95}"/>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5526726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6A7562D-B451-F91A-802F-E9410AAF7DCF}"/>
              </a:ext>
            </a:extLst>
          </p:cNvPr>
          <p:cNvPicPr>
            <a:picLocks noChangeAspect="1"/>
          </p:cNvPicPr>
          <p:nvPr/>
        </p:nvPicPr>
        <p:blipFill>
          <a:blip r:embed="rId2"/>
          <a:stretch>
            <a:fillRect/>
          </a:stretch>
        </p:blipFill>
        <p:spPr>
          <a:xfrm>
            <a:off x="1524000" y="194187"/>
            <a:ext cx="9144000" cy="1219200"/>
          </a:xfrm>
          <a:prstGeom prst="rect">
            <a:avLst/>
          </a:prstGeom>
        </p:spPr>
      </p:pic>
      <p:sp>
        <p:nvSpPr>
          <p:cNvPr id="4" name="TextBox 3">
            <a:extLst>
              <a:ext uri="{FF2B5EF4-FFF2-40B4-BE49-F238E27FC236}">
                <a16:creationId xmlns:a16="http://schemas.microsoft.com/office/drawing/2014/main" id="{71C618A4-3DF4-2EE7-6E13-9F5EB31597D3}"/>
              </a:ext>
            </a:extLst>
          </p:cNvPr>
          <p:cNvSpPr txBox="1"/>
          <p:nvPr/>
        </p:nvSpPr>
        <p:spPr>
          <a:xfrm>
            <a:off x="943897" y="1592825"/>
            <a:ext cx="9724103" cy="707886"/>
          </a:xfrm>
          <a:prstGeom prst="rect">
            <a:avLst/>
          </a:prstGeom>
          <a:noFill/>
        </p:spPr>
        <p:txBody>
          <a:bodyPr wrap="square" rtlCol="0">
            <a:spAutoFit/>
          </a:bodyPr>
          <a:lstStyle/>
          <a:p>
            <a:pPr algn="ctr"/>
            <a:r>
              <a:rPr lang="en-US" sz="4000" b="1" dirty="0">
                <a:latin typeface="Times New Roman" panose="02020603050405020304" pitchFamily="18" charset="0"/>
                <a:cs typeface="Times New Roman" panose="02020603050405020304" pitchFamily="18" charset="0"/>
              </a:rPr>
              <a:t>Implementation</a:t>
            </a:r>
            <a:endParaRPr lang="en-IN" sz="4000" b="1" dirty="0">
              <a:latin typeface="Times New Roman" panose="02020603050405020304" pitchFamily="18" charset="0"/>
              <a:cs typeface="Times New Roman" panose="02020603050405020304" pitchFamily="18" charset="0"/>
            </a:endParaRPr>
          </a:p>
        </p:txBody>
      </p:sp>
      <p:pic>
        <p:nvPicPr>
          <p:cNvPr id="3074" name="Picture 2">
            <a:extLst>
              <a:ext uri="{FF2B5EF4-FFF2-40B4-BE49-F238E27FC236}">
                <a16:creationId xmlns:a16="http://schemas.microsoft.com/office/drawing/2014/main" id="{DB1E64FE-8716-3FEE-D39F-8843930273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2077" y="2300711"/>
            <a:ext cx="4807974" cy="37559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2338398-FC56-C500-049B-7E3E5A225C9C}"/>
              </a:ext>
            </a:extLst>
          </p:cNvPr>
          <p:cNvSpPr txBox="1"/>
          <p:nvPr/>
        </p:nvSpPr>
        <p:spPr>
          <a:xfrm>
            <a:off x="1150374" y="2694039"/>
            <a:ext cx="5515897" cy="2308324"/>
          </a:xfrm>
          <a:prstGeom prst="rect">
            <a:avLst/>
          </a:prstGeom>
          <a:noFill/>
        </p:spPr>
        <p:txBody>
          <a:bodyPr wrap="square" rtlCol="0">
            <a:spAutoFit/>
          </a:bodyPr>
          <a:lstStyle/>
          <a:p>
            <a:r>
              <a:rPr lang="en-IN" dirty="0"/>
              <a:t>The implementation of Complaint Care demonstrated significant improvements in both processing efficiency and user experience compared to conventional complaint management systems. The integration of a transformer-based architecture allowed the system to achieve higher accuracy in complaint categorization and priority detection, while the fallback machine learning models ensured uninterrupted service reliability.</a:t>
            </a:r>
          </a:p>
        </p:txBody>
      </p:sp>
    </p:spTree>
    <p:extLst>
      <p:ext uri="{BB962C8B-B14F-4D97-AF65-F5344CB8AC3E}">
        <p14:creationId xmlns:p14="http://schemas.microsoft.com/office/powerpoint/2010/main" val="16497431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D5FF9754-9A29-017F-C86F-B9C3517994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150" y="196644"/>
            <a:ext cx="11576050" cy="6328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774800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1">
            <a:extLst>
              <a:ext uri="{FF2B5EF4-FFF2-40B4-BE49-F238E27FC236}">
                <a16:creationId xmlns:a16="http://schemas.microsoft.com/office/drawing/2014/main" id="{484EBFC0-7398-5157-7CA7-78448C79B5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6244" y="245730"/>
            <a:ext cx="10898825" cy="63665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668715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1">
            <a:extLst>
              <a:ext uri="{FF2B5EF4-FFF2-40B4-BE49-F238E27FC236}">
                <a16:creationId xmlns:a16="http://schemas.microsoft.com/office/drawing/2014/main" id="{5A7092DD-FBDB-AAAA-DC86-7F55AFB84F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439" y="324465"/>
            <a:ext cx="11267767" cy="6037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772751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1">
            <a:extLst>
              <a:ext uri="{FF2B5EF4-FFF2-40B4-BE49-F238E27FC236}">
                <a16:creationId xmlns:a16="http://schemas.microsoft.com/office/drawing/2014/main" id="{6EB36FE7-85C2-8C38-BEAC-DDC395109F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955" y="373626"/>
            <a:ext cx="11326761" cy="5781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63196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1">
            <a:extLst>
              <a:ext uri="{FF2B5EF4-FFF2-40B4-BE49-F238E27FC236}">
                <a16:creationId xmlns:a16="http://schemas.microsoft.com/office/drawing/2014/main" id="{8C97436D-5A75-22AC-D6CB-838DC95B24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1885" y="393290"/>
            <a:ext cx="10166554" cy="59485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170420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1">
            <a:extLst>
              <a:ext uri="{FF2B5EF4-FFF2-40B4-BE49-F238E27FC236}">
                <a16:creationId xmlns:a16="http://schemas.microsoft.com/office/drawing/2014/main" id="{172336B2-9F50-CF3F-8D95-932818DEB5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3562" y="462116"/>
            <a:ext cx="10687664" cy="59386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720104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1">
            <a:extLst>
              <a:ext uri="{FF2B5EF4-FFF2-40B4-BE49-F238E27FC236}">
                <a16:creationId xmlns:a16="http://schemas.microsoft.com/office/drawing/2014/main" id="{A1756060-9930-6973-7E01-346503B05A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258" y="383458"/>
            <a:ext cx="10923639" cy="6056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9036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BC832E65-A569-8830-C83E-A3AFEA5E91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0425" y="167895"/>
            <a:ext cx="9311149" cy="1070970"/>
          </a:xfrm>
          <a:prstGeom prst="rect">
            <a:avLst/>
          </a:prstGeom>
        </p:spPr>
      </p:pic>
      <p:sp>
        <p:nvSpPr>
          <p:cNvPr id="3" name="TextBox 2">
            <a:extLst>
              <a:ext uri="{FF2B5EF4-FFF2-40B4-BE49-F238E27FC236}">
                <a16:creationId xmlns:a16="http://schemas.microsoft.com/office/drawing/2014/main" id="{6751FF06-BD5F-205D-5042-4A896D4606E0}"/>
              </a:ext>
            </a:extLst>
          </p:cNvPr>
          <p:cNvSpPr txBox="1"/>
          <p:nvPr/>
        </p:nvSpPr>
        <p:spPr>
          <a:xfrm>
            <a:off x="894734" y="1779639"/>
            <a:ext cx="10766323" cy="4154984"/>
          </a:xfrm>
          <a:prstGeom prst="rect">
            <a:avLst/>
          </a:prstGeom>
          <a:noFill/>
        </p:spPr>
        <p:txBody>
          <a:bodyPr wrap="square" rtlCol="0">
            <a:spAutoFit/>
          </a:bodyPr>
          <a:lstStyle/>
          <a:p>
            <a:r>
              <a:rPr lang="en-US" sz="4000" b="1" dirty="0">
                <a:latin typeface="Times New Roman" panose="02020603050405020304" pitchFamily="18" charset="0"/>
                <a:cs typeface="Times New Roman" panose="02020603050405020304" pitchFamily="18" charset="0"/>
              </a:rPr>
              <a:t>Publications</a:t>
            </a:r>
            <a:r>
              <a:rPr lang="en-US" sz="4000" b="1" dirty="0"/>
              <a:t>:</a:t>
            </a:r>
          </a:p>
          <a:p>
            <a:endParaRPr lang="en-US" b="1" dirty="0"/>
          </a:p>
          <a:p>
            <a:pPr algn="just"/>
            <a:r>
              <a:rPr lang="en-US" dirty="0" err="1"/>
              <a:t>Dr.T.Manikumar,Ganipineni</a:t>
            </a:r>
            <a:r>
              <a:rPr lang="en-US" dirty="0"/>
              <a:t> Bhardwaj </a:t>
            </a:r>
            <a:r>
              <a:rPr lang="en-US" dirty="0" err="1"/>
              <a:t>Naidu,Byreddy</a:t>
            </a:r>
            <a:r>
              <a:rPr lang="en-US" dirty="0"/>
              <a:t> Rami </a:t>
            </a:r>
            <a:r>
              <a:rPr lang="en-US" dirty="0" err="1"/>
              <a:t>Reddy,Guvvala</a:t>
            </a:r>
            <a:r>
              <a:rPr lang="en-US" dirty="0"/>
              <a:t> Harshavardhan </a:t>
            </a:r>
            <a:r>
              <a:rPr lang="en-US" dirty="0" err="1"/>
              <a:t>Reddy,Kadapana</a:t>
            </a:r>
            <a:r>
              <a:rPr lang="en-US" dirty="0"/>
              <a:t> Venkata Siva Mahidhar Reddy “Complaint Care - A Complaint Management System With AI Chatbot Integration &amp; Transformer-based Architecture For Ticket Management System</a:t>
            </a:r>
            <a:r>
              <a:rPr lang="en-US" b="1" dirty="0"/>
              <a:t>” </a:t>
            </a:r>
            <a:r>
              <a:rPr lang="en-IN" dirty="0">
                <a:latin typeface="Times New Roman" panose="02020603050405020304" pitchFamily="18" charset="0"/>
                <a:cs typeface="Times New Roman" panose="02020603050405020304" pitchFamily="18" charset="0"/>
              </a:rPr>
              <a:t>submitted a paper in International Conference on Intelligent Systems, Smart and Green Technologies (ICISSGT - 2025)</a:t>
            </a:r>
            <a:endParaRPr lang="en-IN" dirty="0"/>
          </a:p>
          <a:p>
            <a:br>
              <a:rPr lang="en-US" b="1" dirty="0"/>
            </a:br>
            <a:endParaRPr lang="en-IN" dirty="0"/>
          </a:p>
          <a:p>
            <a:endParaRPr lang="en-IN" dirty="0"/>
          </a:p>
          <a:p>
            <a:endParaRPr lang="en-IN" dirty="0"/>
          </a:p>
          <a:p>
            <a:r>
              <a:rPr lang="en-US" b="1" dirty="0"/>
              <a:t> </a:t>
            </a:r>
          </a:p>
          <a:p>
            <a:r>
              <a:rPr lang="en-US" sz="4000" b="1" dirty="0"/>
              <a:t>       </a:t>
            </a:r>
            <a:endParaRPr lang="en-IN" dirty="0"/>
          </a:p>
        </p:txBody>
      </p:sp>
    </p:spTree>
    <p:extLst>
      <p:ext uri="{BB962C8B-B14F-4D97-AF65-F5344CB8AC3E}">
        <p14:creationId xmlns:p14="http://schemas.microsoft.com/office/powerpoint/2010/main" val="37099743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F381FC3-1599-01F8-0D5C-D808EBDFA259}"/>
              </a:ext>
            </a:extLst>
          </p:cNvPr>
          <p:cNvSpPr txBox="1"/>
          <p:nvPr/>
        </p:nvSpPr>
        <p:spPr>
          <a:xfrm>
            <a:off x="580103" y="1366683"/>
            <a:ext cx="11130116" cy="2923877"/>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Conclusion:</a:t>
            </a:r>
          </a:p>
          <a:p>
            <a:pPr algn="just"/>
            <a:r>
              <a:rPr lang="en-IN" dirty="0"/>
              <a:t>Complaint Care, an AI-powered complaint management system that uses transformer-based models to automate complaint classification, priority detection, and routing, was introduced in this paper. High accuracy and low latency were attained by the system, which was backed by fallback machine learning for continuous dependability.</a:t>
            </a:r>
            <a:br>
              <a:rPr lang="en-IN" dirty="0"/>
            </a:br>
            <a:r>
              <a:rPr lang="en-IN" dirty="0"/>
              <a:t>Complaint Care improved resolution times, decreased manual </a:t>
            </a:r>
            <a:r>
              <a:rPr lang="en-IN" dirty="0" err="1"/>
              <a:t>labor</a:t>
            </a:r>
            <a:r>
              <a:rPr lang="en-IN" dirty="0"/>
              <a:t>, and increased transparency for all parties involved when compared to traditional systems. Administrators profited from dashboards and automated routing, while user studies validated its user-friendly interface, speedy submission process, and efficient real-time </a:t>
            </a:r>
            <a:r>
              <a:rPr lang="en-IN" dirty="0" err="1"/>
              <a:t>tracking.In</a:t>
            </a:r>
            <a:r>
              <a:rPr lang="en-IN" dirty="0"/>
              <a:t> conclusion, Complaint Care offers an intelligent and scalable way to handle institutional grievances. </a:t>
            </a:r>
            <a:r>
              <a:rPr lang="en-US" dirty="0"/>
              <a:t>Future research will focus on cross-lingual</a:t>
            </a:r>
            <a:endParaRPr lang="en-IN" sz="40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0EE0958D-8182-35BC-3C8F-9683B2271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0425" y="158062"/>
            <a:ext cx="9311149" cy="1070970"/>
          </a:xfrm>
          <a:prstGeom prst="rect">
            <a:avLst/>
          </a:prstGeom>
        </p:spPr>
      </p:pic>
    </p:spTree>
    <p:extLst>
      <p:ext uri="{BB962C8B-B14F-4D97-AF65-F5344CB8AC3E}">
        <p14:creationId xmlns:p14="http://schemas.microsoft.com/office/powerpoint/2010/main" val="24501864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3A1065F-A9F3-E427-01F9-AE977AFBAD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0425" y="158062"/>
            <a:ext cx="9311149" cy="1070970"/>
          </a:xfrm>
          <a:prstGeom prst="rect">
            <a:avLst/>
          </a:prstGeom>
        </p:spPr>
      </p:pic>
      <p:sp>
        <p:nvSpPr>
          <p:cNvPr id="3" name="TextBox 2">
            <a:extLst>
              <a:ext uri="{FF2B5EF4-FFF2-40B4-BE49-F238E27FC236}">
                <a16:creationId xmlns:a16="http://schemas.microsoft.com/office/drawing/2014/main" id="{CFB75CB9-3A19-532C-F77E-69A98FFFC4C9}"/>
              </a:ext>
            </a:extLst>
          </p:cNvPr>
          <p:cNvSpPr txBox="1"/>
          <p:nvPr/>
        </p:nvSpPr>
        <p:spPr>
          <a:xfrm>
            <a:off x="250721" y="1229032"/>
            <a:ext cx="11690555" cy="6370975"/>
          </a:xfrm>
          <a:prstGeom prst="rect">
            <a:avLst/>
          </a:prstGeom>
          <a:noFill/>
        </p:spPr>
        <p:txBody>
          <a:bodyPr wrap="square" rtlCol="0">
            <a:spAutoFit/>
          </a:bodyPr>
          <a:lstStyle/>
          <a:p>
            <a:r>
              <a:rPr lang="en-US" sz="4000" dirty="0">
                <a:latin typeface="Times New Roman" panose="02020603050405020304" pitchFamily="18" charset="0"/>
                <a:cs typeface="Times New Roman" panose="02020603050405020304" pitchFamily="18" charset="0"/>
              </a:rPr>
              <a:t>References:</a:t>
            </a:r>
          </a:p>
          <a:p>
            <a:pPr marL="285750" lvl="0" indent="-285750" algn="just">
              <a:buFont typeface="Arial" panose="020B0604020202020204" pitchFamily="34" charset="0"/>
              <a:buChar char="•"/>
            </a:pPr>
            <a:r>
              <a:rPr lang="en-IN" sz="1600" dirty="0"/>
              <a:t>[1].H. M. Mohamed, A. H. Mohamed, S. O. Hashi, H. N. Hassan, K. A. Barre, and B. A. Ahmed, “Automated university complaint management system by leveraging machine learning and natural language processing for enhanced efficiency and accuracy,” </a:t>
            </a:r>
            <a:r>
              <a:rPr lang="en-IN" sz="1600" i="1" dirty="0"/>
              <a:t>Forum for Linguistic Studies</a:t>
            </a:r>
            <a:r>
              <a:rPr lang="en-IN" sz="1600" dirty="0"/>
              <a:t>, vol. 7, no. 2, pp. 1–12, 2025.</a:t>
            </a:r>
          </a:p>
          <a:p>
            <a:pPr marL="285750" lvl="0" indent="-285750" algn="just">
              <a:buFont typeface="Arial" panose="020B0604020202020204" pitchFamily="34" charset="0"/>
              <a:buChar char="•"/>
            </a:pPr>
            <a:r>
              <a:rPr lang="en-IN" sz="1600" dirty="0"/>
              <a:t>[2].H. Pang and C. Li, “A BERT and </a:t>
            </a:r>
            <a:r>
              <a:rPr lang="en-IN" sz="1600" dirty="0" err="1"/>
              <a:t>TextCNN</a:t>
            </a:r>
            <a:r>
              <a:rPr lang="en-IN" sz="1600" dirty="0"/>
              <a:t> integration-based method for public complaints and proposals text classification,” in </a:t>
            </a:r>
            <a:r>
              <a:rPr lang="en-IN" sz="1600" i="1" dirty="0"/>
              <a:t>Proc. ACM Conf.</a:t>
            </a:r>
            <a:r>
              <a:rPr lang="en-IN" sz="1600" dirty="0"/>
              <a:t>, 2025, pp. 1–6, doi:10.1145/3704814.3704819.</a:t>
            </a:r>
          </a:p>
          <a:p>
            <a:pPr marL="285750" lvl="0" indent="-285750" algn="just">
              <a:buFont typeface="Arial" panose="020B0604020202020204" pitchFamily="34" charset="0"/>
              <a:buChar char="•"/>
            </a:pPr>
            <a:r>
              <a:rPr lang="en-US" sz="1600" dirty="0"/>
              <a:t>[3].T. Manikumar and A. J. S. Kumar, “A buffered genetic algorithm for automated branch coverage in software testing,” </a:t>
            </a:r>
            <a:r>
              <a:rPr lang="en-US" sz="1600" i="1" dirty="0"/>
              <a:t>Journal of Information Science and Engineering</a:t>
            </a:r>
            <a:r>
              <a:rPr lang="en-US" sz="1600" dirty="0"/>
              <a:t>, vol. 35, no. 2, pp. 245–273, 2019.</a:t>
            </a:r>
            <a:endParaRPr lang="en-IN" sz="1600" dirty="0"/>
          </a:p>
          <a:p>
            <a:pPr marL="285750" lvl="0" indent="-285750" algn="just">
              <a:buFont typeface="Arial" panose="020B0604020202020204" pitchFamily="34" charset="0"/>
              <a:buChar char="•"/>
            </a:pPr>
            <a:r>
              <a:rPr lang="en-US" sz="1600" dirty="0"/>
              <a:t>[4].T. Manikumar, A. J. S. Kumar, and R. </a:t>
            </a:r>
            <a:r>
              <a:rPr lang="en-US" sz="1600" dirty="0" err="1"/>
              <a:t>Maruthamuthu</a:t>
            </a:r>
            <a:r>
              <a:rPr lang="en-US" sz="1600" dirty="0"/>
              <a:t>, “Automated test data generation for branch testing using incremental genetic algorithm,” </a:t>
            </a:r>
            <a:r>
              <a:rPr lang="en-US" sz="1600" i="1" dirty="0" err="1"/>
              <a:t>Sādhanā</a:t>
            </a:r>
            <a:r>
              <a:rPr lang="en-US" sz="1600" dirty="0"/>
              <a:t>, vol. 41, no. 9, pp. 959–976, 2016.</a:t>
            </a:r>
            <a:endParaRPr lang="en-IN" sz="1600" dirty="0"/>
          </a:p>
          <a:p>
            <a:pPr marL="285750" lvl="0" indent="-285750" algn="just">
              <a:buFont typeface="Arial" panose="020B0604020202020204" pitchFamily="34" charset="0"/>
              <a:buChar char="•"/>
            </a:pPr>
            <a:r>
              <a:rPr lang="en-US" sz="1600" dirty="0"/>
              <a:t>[5].T. Manikumar, G. Natarajan, and R. Gnanasekaran, “Multidisciplinary Applications of Machine Learning,” in </a:t>
            </a:r>
            <a:r>
              <a:rPr lang="en-US" sz="1600" i="1" dirty="0"/>
              <a:t>Machine Learning, Blockchain and Cyber Security in Smart Environments</a:t>
            </a:r>
            <a:r>
              <a:rPr lang="en-US" sz="1600" dirty="0"/>
              <a:t>, pp. 41–57, 2022.</a:t>
            </a:r>
            <a:endParaRPr lang="en-IN" sz="1600" dirty="0"/>
          </a:p>
          <a:p>
            <a:pPr marL="285750" lvl="0" indent="-285750" algn="just">
              <a:buFont typeface="Arial" panose="020B0604020202020204" pitchFamily="34" charset="0"/>
              <a:buChar char="•"/>
            </a:pPr>
            <a:r>
              <a:rPr lang="en-US" sz="1600" dirty="0"/>
              <a:t>[6].T. Manikumar, R. R. Subramanian, K. Venkatesh, R. R. Sudharsan, and V. </a:t>
            </a:r>
            <a:r>
              <a:rPr lang="en-US" sz="1600" dirty="0" err="1"/>
              <a:t>Aravindrajan</a:t>
            </a:r>
            <a:r>
              <a:rPr lang="en-US" sz="1600" dirty="0"/>
              <a:t>, “SHAPE: Design and Evaluation of a Transformative Model for Engineering Education,” </a:t>
            </a:r>
            <a:r>
              <a:rPr lang="en-US" sz="1600" i="1" dirty="0"/>
              <a:t>Journal of Engineering Education Transformations</a:t>
            </a:r>
            <a:r>
              <a:rPr lang="en-US" sz="1600" dirty="0"/>
              <a:t>, vol. 38, Special Issue 1, pp. 153–158, 2024.</a:t>
            </a:r>
            <a:endParaRPr lang="en-IN" sz="1600" dirty="0"/>
          </a:p>
          <a:p>
            <a:pPr marL="285750" lvl="0" indent="-285750" algn="just">
              <a:buFont typeface="Arial" panose="020B0604020202020204" pitchFamily="34" charset="0"/>
              <a:buChar char="•"/>
            </a:pPr>
            <a:r>
              <a:rPr lang="en-US" sz="1600" dirty="0"/>
              <a:t>[7].T. Manikumar, R. R. Subramanian, K. Venkatesh, and A. B. Mohideen, “Enhancing Software Engineering Education through Project-Based Learning,” </a:t>
            </a:r>
            <a:r>
              <a:rPr lang="en-US" sz="1600" i="1" dirty="0"/>
              <a:t>Journal of Engineering Education Transformations</a:t>
            </a:r>
            <a:r>
              <a:rPr lang="en-US" sz="1600" dirty="0"/>
              <a:t>, vol. 38, Special Issue 1, pp. 173–178, 2024.</a:t>
            </a:r>
            <a:endParaRPr lang="en-IN" sz="1600" dirty="0"/>
          </a:p>
          <a:p>
            <a:pPr marL="285750" lvl="0" indent="-285750" algn="just">
              <a:buFont typeface="Arial" panose="020B0604020202020204" pitchFamily="34" charset="0"/>
              <a:buChar char="•"/>
            </a:pPr>
            <a:r>
              <a:rPr lang="en-US" sz="1600" dirty="0"/>
              <a:t>[8].K. </a:t>
            </a:r>
            <a:r>
              <a:rPr lang="en-US" sz="1600" dirty="0" err="1"/>
              <a:t>Arutselvan</a:t>
            </a:r>
            <a:r>
              <a:rPr lang="en-US" sz="1600" dirty="0"/>
              <a:t>, P. N. Palanisamy, M. Sugumaran, and T. Manikumar, “Enhancing PV System Efficiency: An Analysis of Intelligent MPPT Algorithms,” </a:t>
            </a:r>
            <a:r>
              <a:rPr lang="en-US" sz="1600" i="1" dirty="0"/>
              <a:t>Nanotechnology Perceptions</a:t>
            </a:r>
            <a:r>
              <a:rPr lang="en-US" sz="1600" dirty="0"/>
              <a:t>, vol. 21, no. 1, pp. 79–89, 2025.</a:t>
            </a:r>
            <a:endParaRPr lang="en-IN" sz="1600" dirty="0"/>
          </a:p>
          <a:p>
            <a:endParaRPr lang="en-US" sz="4000" dirty="0">
              <a:latin typeface="Times New Roman" panose="02020603050405020304" pitchFamily="18" charset="0"/>
              <a:cs typeface="Times New Roman" panose="02020603050405020304" pitchFamily="18" charset="0"/>
            </a:endParaRPr>
          </a:p>
          <a:p>
            <a:endParaRPr lang="en-IN" sz="4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682997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A3BCB7-752E-0DC5-383F-5130C5B74010}"/>
              </a:ext>
            </a:extLst>
          </p:cNvPr>
          <p:cNvSpPr>
            <a:spLocks noGrp="1"/>
          </p:cNvSpPr>
          <p:nvPr>
            <p:ph idx="1"/>
          </p:nvPr>
        </p:nvSpPr>
        <p:spPr>
          <a:xfrm>
            <a:off x="2986712" y="3140004"/>
            <a:ext cx="5750888" cy="1185443"/>
          </a:xfrm>
        </p:spPr>
        <p:txBody>
          <a:bodyPr>
            <a:normAutofit fontScale="92500"/>
          </a:bodyPr>
          <a:lstStyle/>
          <a:p>
            <a:pPr marL="0" indent="0">
              <a:buNone/>
            </a:pPr>
            <a:r>
              <a:rPr lang="en-US" sz="7200" b="1" dirty="0">
                <a:latin typeface="Times New Roman" panose="02020603050405020304" pitchFamily="18" charset="0"/>
                <a:cs typeface="Times New Roman" panose="02020603050405020304" pitchFamily="18" charset="0"/>
              </a:rPr>
              <a:t>THANK YOU</a:t>
            </a:r>
            <a:endParaRPr lang="en-IN" sz="72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8C6C25C-75E0-5862-EBC2-2556A99EB0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0709" y="226889"/>
            <a:ext cx="9311149" cy="1070970"/>
          </a:xfrm>
          <a:prstGeom prst="rect">
            <a:avLst/>
          </a:prstGeom>
        </p:spPr>
      </p:pic>
    </p:spTree>
    <p:extLst>
      <p:ext uri="{BB962C8B-B14F-4D97-AF65-F5344CB8AC3E}">
        <p14:creationId xmlns:p14="http://schemas.microsoft.com/office/powerpoint/2010/main" val="4851400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TotalTime>
  <Words>2058</Words>
  <Application>Microsoft Office PowerPoint</Application>
  <PresentationFormat>Widescreen</PresentationFormat>
  <Paragraphs>198</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Calibri Light</vt:lpstr>
      <vt:lpstr>Times New Roman</vt:lpstr>
      <vt:lpstr>Wingdings</vt:lpstr>
      <vt:lpstr>Office Theme</vt:lpstr>
      <vt:lpstr>Complaint Care A Complaint Management System With AI Chatbot Integration &amp; Transformer-based Architecture For Ticket Management System</vt:lpstr>
      <vt:lpstr>Abstract</vt:lpstr>
      <vt:lpstr>Project Overview</vt:lpstr>
      <vt:lpstr>           Problem Statement</vt:lpstr>
      <vt:lpstr>Literature Review</vt:lpstr>
      <vt:lpstr>PowerPoint Presentation</vt:lpstr>
      <vt:lpstr>PowerPoint Presentation</vt:lpstr>
      <vt:lpstr>PowerPoint Presentation</vt:lpstr>
      <vt:lpstr>  Drawbacks of Existing</vt:lpstr>
      <vt:lpstr>Advantages of Proposed System</vt:lpstr>
      <vt:lpstr>Proposed Methodology</vt:lpstr>
      <vt:lpstr>Technical Stack</vt:lpstr>
      <vt:lpstr>Technical Stack</vt:lpstr>
      <vt:lpstr>Modules</vt:lpstr>
      <vt:lpstr>Modules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Aadarsh Menati</dc:creator>
  <cp:lastModifiedBy>krishna reddy kommireddy</cp:lastModifiedBy>
  <cp:revision>4</cp:revision>
  <dcterms:created xsi:type="dcterms:W3CDTF">2025-09-10T09:23:02Z</dcterms:created>
  <dcterms:modified xsi:type="dcterms:W3CDTF">2025-10-23T16:49:30Z</dcterms:modified>
</cp:coreProperties>
</file>